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599" r:id="rId2"/>
    <p:sldId id="539" r:id="rId3"/>
    <p:sldId id="548" r:id="rId4"/>
    <p:sldId id="547" r:id="rId5"/>
    <p:sldId id="549" r:id="rId6"/>
    <p:sldId id="551" r:id="rId7"/>
    <p:sldId id="550" r:id="rId8"/>
    <p:sldId id="552" r:id="rId9"/>
    <p:sldId id="560" r:id="rId10"/>
    <p:sldId id="638" r:id="rId11"/>
    <p:sldId id="639" r:id="rId12"/>
    <p:sldId id="553" r:id="rId13"/>
    <p:sldId id="554" r:id="rId14"/>
    <p:sldId id="640" r:id="rId15"/>
    <p:sldId id="555" r:id="rId16"/>
    <p:sldId id="556" r:id="rId17"/>
    <p:sldId id="557" r:id="rId18"/>
    <p:sldId id="558" r:id="rId19"/>
    <p:sldId id="562" r:id="rId20"/>
    <p:sldId id="559" r:id="rId21"/>
    <p:sldId id="563" r:id="rId22"/>
    <p:sldId id="564" r:id="rId23"/>
    <p:sldId id="566" r:id="rId24"/>
    <p:sldId id="567" r:id="rId25"/>
    <p:sldId id="609" r:id="rId26"/>
    <p:sldId id="565" r:id="rId27"/>
    <p:sldId id="641" r:id="rId28"/>
    <p:sldId id="642" r:id="rId29"/>
    <p:sldId id="643" r:id="rId30"/>
    <p:sldId id="644" r:id="rId31"/>
    <p:sldId id="645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8"/>
    <p:restoredTop sz="95878"/>
  </p:normalViewPr>
  <p:slideViewPr>
    <p:cSldViewPr snapToGrid="0" snapToObjects="1" showGuides="1">
      <p:cViewPr varScale="1">
        <p:scale>
          <a:sx n="110" d="100"/>
          <a:sy n="110" d="100"/>
        </p:scale>
        <p:origin x="520" y="168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3B536-A9A3-DD4A-A754-00739019822F}" type="datetimeFigureOut">
              <a:rPr lang="fr-FR" smtClean="0"/>
              <a:t>01/12/2024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57040-1C4D-484F-94E6-C3202C1313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91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388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single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training set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mini-batch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single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training set,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5,000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course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multiple passes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training set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So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passes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training set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hopefully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converge or at least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fr-FR" dirty="0"/>
          </a:p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 large training set, mini-batch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 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pretty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on a large data set.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72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With</a:t>
            </a:r>
            <a:r>
              <a:rPr lang="fr-FR" dirty="0"/>
              <a:t> SGD :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loose</a:t>
            </a:r>
            <a:r>
              <a:rPr lang="fr-FR" dirty="0"/>
              <a:t> </a:t>
            </a:r>
            <a:r>
              <a:rPr lang="fr-FR" dirty="0" err="1"/>
              <a:t>speedup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vectorization</a:t>
            </a:r>
            <a:endParaRPr lang="fr-FR" dirty="0"/>
          </a:p>
          <a:p>
            <a:r>
              <a:rPr lang="fr-FR" dirty="0" err="1"/>
              <a:t>With</a:t>
            </a:r>
            <a:r>
              <a:rPr lang="fr-FR" dirty="0"/>
              <a:t> Batch GD : </a:t>
            </a:r>
            <a:r>
              <a:rPr lang="fr-FR" dirty="0" err="1"/>
              <a:t>Too</a:t>
            </a:r>
            <a:r>
              <a:rPr lang="fr-FR" dirty="0"/>
              <a:t> long per </a:t>
            </a:r>
            <a:r>
              <a:rPr lang="fr-FR" dirty="0" err="1"/>
              <a:t>iteration</a:t>
            </a:r>
            <a:r>
              <a:rPr lang="fr-FR" dirty="0"/>
              <a:t>, </a:t>
            </a:r>
            <a:r>
              <a:rPr lang="fr-FR" dirty="0" err="1"/>
              <a:t>specially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training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large.</a:t>
            </a:r>
          </a:p>
          <a:p>
            <a:r>
              <a:rPr lang="fr-FR" dirty="0" err="1"/>
              <a:t>With</a:t>
            </a:r>
            <a:r>
              <a:rPr lang="fr-FR" dirty="0"/>
              <a:t> Mini-batch: the </a:t>
            </a:r>
            <a:r>
              <a:rPr lang="fr-FR" dirty="0" err="1"/>
              <a:t>fastest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/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advantage</a:t>
            </a:r>
            <a:r>
              <a:rPr lang="fr-FR" dirty="0"/>
              <a:t> of vectorisation /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progress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the </a:t>
            </a:r>
            <a:r>
              <a:rPr lang="fr-FR" dirty="0" err="1"/>
              <a:t>entire</a:t>
            </a:r>
            <a:r>
              <a:rPr lang="fr-FR" dirty="0"/>
              <a:t> training set.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625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03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blog.paperspace.com</a:t>
            </a:r>
            <a:r>
              <a:rPr lang="fr-FR" dirty="0"/>
              <a:t>/intro-to-</a:t>
            </a:r>
            <a:r>
              <a:rPr lang="fr-FR" dirty="0" err="1"/>
              <a:t>optimization</a:t>
            </a:r>
            <a:r>
              <a:rPr lang="fr-FR" dirty="0"/>
              <a:t>-in-</a:t>
            </a:r>
            <a:r>
              <a:rPr lang="fr-FR" dirty="0" err="1"/>
              <a:t>deep</a:t>
            </a:r>
            <a:r>
              <a:rPr lang="fr-FR" dirty="0"/>
              <a:t>-</a:t>
            </a:r>
            <a:r>
              <a:rPr lang="fr-FR" dirty="0" err="1"/>
              <a:t>learning</a:t>
            </a:r>
            <a:r>
              <a:rPr lang="fr-FR" dirty="0"/>
              <a:t>-gradient-</a:t>
            </a:r>
            <a:r>
              <a:rPr lang="fr-FR" dirty="0" err="1"/>
              <a:t>descent</a:t>
            </a:r>
            <a:r>
              <a:rPr lang="fr-FR" dirty="0"/>
              <a:t>/</a:t>
            </a:r>
          </a:p>
          <a:p>
            <a:r>
              <a:rPr lang="fr-FR" dirty="0"/>
              <a:t>https://</a:t>
            </a:r>
            <a:r>
              <a:rPr lang="fr-FR" dirty="0" err="1"/>
              <a:t>blog.paperspace.com</a:t>
            </a:r>
            <a:r>
              <a:rPr lang="fr-FR" dirty="0"/>
              <a:t>/intro-to-</a:t>
            </a:r>
            <a:r>
              <a:rPr lang="fr-FR" dirty="0" err="1"/>
              <a:t>optimization</a:t>
            </a:r>
            <a:r>
              <a:rPr lang="fr-FR" dirty="0"/>
              <a:t>-</a:t>
            </a:r>
            <a:r>
              <a:rPr lang="fr-FR" dirty="0" err="1"/>
              <a:t>momentum-rmsprop-adam</a:t>
            </a:r>
            <a:r>
              <a:rPr lang="fr-FR" dirty="0"/>
              <a:t>/</a:t>
            </a:r>
          </a:p>
          <a:p>
            <a:endParaRPr lang="fr-FR" dirty="0"/>
          </a:p>
          <a:p>
            <a:r>
              <a:rPr lang="fr-FR" b="1" dirty="0" err="1"/>
              <a:t>Grad</a:t>
            </a:r>
            <a:r>
              <a:rPr lang="fr-FR" b="1" dirty="0"/>
              <a:t> </a:t>
            </a:r>
            <a:r>
              <a:rPr lang="fr-FR" b="1" dirty="0" err="1"/>
              <a:t>descent</a:t>
            </a:r>
            <a:r>
              <a:rPr lang="fr-FR" b="1" dirty="0"/>
              <a:t>: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took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limitation of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arrived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almost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impossible for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escape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regardless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minima.</a:t>
            </a:r>
            <a:endParaRPr lang="fr-FR" b="1" dirty="0"/>
          </a:p>
          <a:p>
            <a:endParaRPr lang="fr-FR" b="1" dirty="0"/>
          </a:p>
          <a:p>
            <a:r>
              <a:rPr lang="fr-FR" b="1" dirty="0" err="1"/>
              <a:t>Saddle</a:t>
            </a:r>
            <a:r>
              <a:rPr lang="fr-FR" b="1" dirty="0"/>
              <a:t>: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saddle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saddle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 horse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resembles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minima in one direction (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local maxima in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direction, and if the contour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flatter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x direction, GD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oscillating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and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y - direction, and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the illusion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minima.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35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blog.paperspace.com</a:t>
            </a:r>
            <a:r>
              <a:rPr lang="fr-FR" dirty="0"/>
              <a:t>/intro-to-</a:t>
            </a:r>
            <a:r>
              <a:rPr lang="fr-FR" dirty="0" err="1"/>
              <a:t>optimization</a:t>
            </a:r>
            <a:r>
              <a:rPr lang="fr-FR" dirty="0"/>
              <a:t>-</a:t>
            </a:r>
            <a:r>
              <a:rPr lang="fr-FR" dirty="0" err="1"/>
              <a:t>momentum-rmsprop-adam</a:t>
            </a:r>
            <a:r>
              <a:rPr lang="fr-FR" dirty="0"/>
              <a:t>/</a:t>
            </a:r>
          </a:p>
          <a:p>
            <a:endParaRPr lang="fr-FR" dirty="0"/>
          </a:p>
          <a:p>
            <a:pPr marL="171450" indent="-171450">
              <a:buFont typeface="Symbol" pitchFamily="2" charset="2"/>
              <a:buChar char="Þ"/>
            </a:pPr>
            <a:r>
              <a:rPr lang="fr-FR" dirty="0"/>
              <a:t>   </a:t>
            </a:r>
            <a:r>
              <a:rPr lang="fr-FR" dirty="0" err="1"/>
              <a:t>Suboptimal</a:t>
            </a:r>
            <a:r>
              <a:rPr lang="fr-FR" dirty="0"/>
              <a:t> solution.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fr-FR" dirty="0"/>
              <a:t>   A slow convergence.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072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661CF-3C72-FE52-C4DC-0F78989B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E6A7D4-9AD2-72F7-6CA9-56A9769A6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B24DA9-E0C5-A116-9DE5-6293E149E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A9CB66-B4AA-0E86-090B-622DE6AF7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191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D480-A1A0-40C0-270D-7953118F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123531-7D7F-2F4A-C276-83B5A4A69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008E24-7B9D-D9D3-B5AF-2CEF34249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01466F-0D7F-2589-47D8-C5B40681D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183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image,and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notice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gradient updates are in a </a:t>
            </a:r>
            <a:r>
              <a:rPr lang="fr-F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zig-zag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direction.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notice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update has been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components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w1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w2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directions. If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individually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components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direction 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w1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 out,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component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 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w2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direction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dirty="0"/>
              <a:t>https://</a:t>
            </a:r>
            <a:r>
              <a:rPr lang="fr-FR" dirty="0" err="1"/>
              <a:t>www.coursera.org</a:t>
            </a:r>
            <a:r>
              <a:rPr lang="fr-FR" dirty="0"/>
              <a:t>/</a:t>
            </a:r>
            <a:r>
              <a:rPr lang="fr-FR" dirty="0" err="1"/>
              <a:t>learn</a:t>
            </a:r>
            <a:r>
              <a:rPr lang="fr-FR" dirty="0"/>
              <a:t>/intro-to-</a:t>
            </a:r>
            <a:r>
              <a:rPr lang="fr-FR" dirty="0" err="1"/>
              <a:t>deep</a:t>
            </a:r>
            <a:r>
              <a:rPr lang="fr-FR" dirty="0"/>
              <a:t>-</a:t>
            </a:r>
            <a:r>
              <a:rPr lang="fr-FR" dirty="0" err="1"/>
              <a:t>learning</a:t>
            </a:r>
            <a:r>
              <a:rPr lang="fr-FR" dirty="0"/>
              <a:t>/lecture/</a:t>
            </a:r>
            <a:r>
              <a:rPr lang="fr-FR" dirty="0" err="1"/>
              <a:t>lYGBt</a:t>
            </a:r>
            <a:r>
              <a:rPr lang="fr-FR" dirty="0"/>
              <a:t>/gradient-</a:t>
            </a:r>
            <a:r>
              <a:rPr lang="fr-FR" dirty="0" err="1"/>
              <a:t>descent</a:t>
            </a:r>
            <a:r>
              <a:rPr lang="fr-FR" dirty="0"/>
              <a:t>-extensions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44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</a:t>
            </a:r>
            <a:r>
              <a:rPr lang="fr-FR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momentum</a:t>
            </a:r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almost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straightforward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momentum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Beta :</a:t>
            </a:r>
            <a:r>
              <a:rPr lang="fr-FR" dirty="0"/>
              <a:t> coefficient of </a:t>
            </a:r>
            <a:r>
              <a:rPr lang="fr-FR" dirty="0" err="1"/>
              <a:t>momentum</a:t>
            </a:r>
            <a:endParaRPr lang="fr-FR" dirty="0"/>
          </a:p>
          <a:p>
            <a:r>
              <a:rPr lang="fr-FR" b="1" dirty="0"/>
              <a:t>Beta = 0.9 :</a:t>
            </a:r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over </a:t>
            </a:r>
            <a:r>
              <a:rPr lang="fr-FR" dirty="0" err="1"/>
              <a:t>approx</a:t>
            </a:r>
            <a:r>
              <a:rPr lang="fr-FR" dirty="0"/>
              <a:t> last 10 values of gradients.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0328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0FE24-A11B-CAF1-F3D2-5B5BE595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D415E6-9C4E-020C-9148-EBA6579D1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DFA33B3-F3C9-06CB-4DC1-E6C9C30A4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Square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Propogation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an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devised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legendary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Geoffrey Hinton,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Coursera class</a:t>
            </a: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 up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oscillations in the vertical direction,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progress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horizontal direction. In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intuition for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vertical axis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 and horizontal axis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w. It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w1 and w2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center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b and w for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intuition. And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slow down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b direction, or in the vertical direction. And speed up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at least not slow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 in the horizontal direction. So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RMSprop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accomplish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On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derivative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mini-batch.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8E4602-745E-B303-F1F8-234123412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7334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Square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Propogation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an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devised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legendary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Geoffrey Hinton,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Coursera class</a:t>
            </a: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 up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oscillations in the vertical direction,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progress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horizontal direction. In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intuition for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vertical axis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 and horizontal axis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w. It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w1 and w2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center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b and w for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intuition. And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slow down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b direction, or in the vertical direction. And speed up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at least not slow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 in the horizontal direction. So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RMSprop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accomplish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On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derivative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mini-batch.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798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393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553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371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773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towardsdatascience.com</a:t>
            </a:r>
            <a:r>
              <a:rPr lang="fr-FR" dirty="0"/>
              <a:t>/learning-rate-schedules-and-adaptive-learning-rate-methods-for-deep-learning-2c8f433990d1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622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towardsdatascience.com</a:t>
            </a:r>
            <a:r>
              <a:rPr lang="fr-FR" dirty="0"/>
              <a:t>/learning-rate-schedules-and-adaptive-learning-rate-methods-for-deep-learning-2c8f433990d1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093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towardsdatascience.com</a:t>
            </a:r>
            <a:r>
              <a:rPr lang="fr-FR" dirty="0"/>
              <a:t>/learning-rate-schedules-and-adaptive-learning-rate-methods-for-deep-learning-2c8f433990d1</a:t>
            </a:r>
          </a:p>
          <a:p>
            <a:endParaRPr lang="fr-FR" dirty="0"/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people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model at a time, and if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train.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people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do,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as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over a large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down,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decrease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alpha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little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bit. Of course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alpha,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alpha by hand,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This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people do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So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 few more options for how to control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alpha.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298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070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of cross </a:t>
            </a:r>
            <a:r>
              <a:rPr lang="fr-FR" dirty="0" err="1"/>
              <a:t>entropy</a:t>
            </a:r>
            <a:r>
              <a:rPr lang="fr-FR" dirty="0"/>
              <a:t> </a:t>
            </a:r>
            <a:r>
              <a:rPr lang="fr-FR" dirty="0" err="1"/>
              <a:t>loss</a:t>
            </a:r>
            <a:r>
              <a:rPr lang="fr-FR" dirty="0"/>
              <a:t>:</a:t>
            </a:r>
          </a:p>
          <a:p>
            <a:r>
              <a:rPr lang="fr-FR" dirty="0"/>
              <a:t>https://</a:t>
            </a:r>
            <a:r>
              <a:rPr lang="fr-FR" dirty="0" err="1"/>
              <a:t>gombru.github.io</a:t>
            </a:r>
            <a:r>
              <a:rPr lang="fr-FR" dirty="0"/>
              <a:t>/2018/05/23/</a:t>
            </a:r>
            <a:r>
              <a:rPr lang="fr-FR" dirty="0" err="1"/>
              <a:t>cross_entropy_loss</a:t>
            </a:r>
            <a:r>
              <a:rPr lang="fr-FR" dirty="0"/>
              <a:t>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275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of cross </a:t>
            </a:r>
            <a:r>
              <a:rPr lang="fr-FR" dirty="0" err="1"/>
              <a:t>entropy</a:t>
            </a:r>
            <a:r>
              <a:rPr lang="fr-FR" dirty="0"/>
              <a:t> </a:t>
            </a:r>
            <a:r>
              <a:rPr lang="fr-FR" dirty="0" err="1"/>
              <a:t>loss</a:t>
            </a:r>
            <a:r>
              <a:rPr lang="fr-FR" dirty="0"/>
              <a:t>:</a:t>
            </a:r>
          </a:p>
          <a:p>
            <a:r>
              <a:rPr lang="fr-FR" dirty="0"/>
              <a:t>https://</a:t>
            </a:r>
            <a:r>
              <a:rPr lang="fr-FR" dirty="0" err="1"/>
              <a:t>gombru.github.io</a:t>
            </a:r>
            <a:r>
              <a:rPr lang="fr-FR" dirty="0"/>
              <a:t>/2018/05/23/</a:t>
            </a:r>
            <a:r>
              <a:rPr lang="fr-FR" dirty="0" err="1"/>
              <a:t>cross_entropy_loss</a:t>
            </a:r>
            <a:r>
              <a:rPr lang="fr-FR" dirty="0"/>
              <a:t>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030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know </a:t>
            </a:r>
            <a:r>
              <a:rPr lang="fr-FR" dirty="0" err="1"/>
              <a:t>most</a:t>
            </a:r>
            <a:r>
              <a:rPr lang="fr-FR" dirty="0"/>
              <a:t> of the </a:t>
            </a:r>
            <a:r>
              <a:rPr lang="fr-FR" dirty="0" err="1"/>
              <a:t>elementary</a:t>
            </a:r>
            <a:r>
              <a:rPr lang="fr-FR" dirty="0"/>
              <a:t> parts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required</a:t>
            </a:r>
            <a:r>
              <a:rPr lang="fr-FR" dirty="0"/>
              <a:t> to </a:t>
            </a:r>
            <a:r>
              <a:rPr lang="fr-FR" dirty="0" err="1"/>
              <a:t>build</a:t>
            </a:r>
            <a:r>
              <a:rPr lang="fr-FR" dirty="0"/>
              <a:t> and to train a NN.</a:t>
            </a:r>
          </a:p>
          <a:p>
            <a:r>
              <a:rPr lang="fr-FR" dirty="0" err="1"/>
              <a:t>Unfortunately</a:t>
            </a:r>
            <a:r>
              <a:rPr lang="fr-FR" dirty="0"/>
              <a:t>: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reqiures</a:t>
            </a:r>
            <a:r>
              <a:rPr lang="fr-FR" dirty="0"/>
              <a:t> to set a of </a:t>
            </a:r>
            <a:r>
              <a:rPr lang="fr-FR" dirty="0" err="1"/>
              <a:t>parameters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call Hyper </a:t>
            </a:r>
            <a:r>
              <a:rPr lang="fr-FR" dirty="0" err="1"/>
              <a:t>parameters</a:t>
            </a:r>
            <a:r>
              <a:rPr lang="fr-FR" dirty="0"/>
              <a:t>.</a:t>
            </a:r>
          </a:p>
          <a:p>
            <a:r>
              <a:rPr lang="fr-FR" dirty="0" err="1"/>
              <a:t>What</a:t>
            </a:r>
            <a:r>
              <a:rPr lang="fr-FR" dirty="0"/>
              <a:t> are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…</a:t>
            </a:r>
          </a:p>
          <a:p>
            <a:endParaRPr lang="fr-FR" dirty="0"/>
          </a:p>
          <a:p>
            <a:r>
              <a:rPr lang="fr-FR" dirty="0" err="1"/>
              <a:t>Your</a:t>
            </a:r>
            <a:r>
              <a:rPr lang="fr-FR" dirty="0"/>
              <a:t> know how and expertise in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heavily</a:t>
            </a:r>
            <a:r>
              <a:rPr lang="fr-FR" dirty="0"/>
              <a:t> </a:t>
            </a:r>
            <a:r>
              <a:rPr lang="fr-FR" dirty="0" err="1"/>
              <a:t>rely</a:t>
            </a:r>
            <a:r>
              <a:rPr lang="fr-FR" dirty="0"/>
              <a:t> on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ability</a:t>
            </a:r>
            <a:r>
              <a:rPr lang="fr-FR" dirty="0"/>
              <a:t> to </a:t>
            </a:r>
            <a:r>
              <a:rPr lang="fr-FR" dirty="0" err="1"/>
              <a:t>understand</a:t>
            </a:r>
            <a:r>
              <a:rPr lang="fr-FR" dirty="0"/>
              <a:t> how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internal</a:t>
            </a:r>
            <a:r>
              <a:rPr lang="fr-FR" dirty="0"/>
              <a:t> </a:t>
            </a:r>
            <a:r>
              <a:rPr lang="fr-FR" dirty="0" err="1"/>
              <a:t>machenery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and the intuition </a:t>
            </a:r>
            <a:r>
              <a:rPr lang="fr-FR" dirty="0" err="1"/>
              <a:t>you</a:t>
            </a:r>
            <a:r>
              <a:rPr lang="fr-FR" dirty="0"/>
              <a:t> have on how to set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… You </a:t>
            </a:r>
            <a:r>
              <a:rPr lang="fr-FR" dirty="0" err="1"/>
              <a:t>need</a:t>
            </a:r>
            <a:r>
              <a:rPr lang="fr-FR" dirty="0"/>
              <a:t> to practice ! You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undestand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deeply</a:t>
            </a:r>
            <a:r>
              <a:rPr lang="fr-FR" dirty="0"/>
              <a:t>!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analogy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how Artificiel NN are </a:t>
            </a:r>
            <a:r>
              <a:rPr lang="fr-FR" dirty="0" err="1"/>
              <a:t>trained</a:t>
            </a:r>
            <a:r>
              <a:rPr lang="fr-FR" dirty="0"/>
              <a:t>.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hyperpameters</a:t>
            </a:r>
            <a:r>
              <a:rPr lang="fr-FR" dirty="0"/>
              <a:t> has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reviewed</a:t>
            </a:r>
            <a:r>
              <a:rPr lang="fr-FR" dirty="0"/>
              <a:t> </a:t>
            </a:r>
            <a:r>
              <a:rPr lang="fr-FR" dirty="0" err="1"/>
              <a:t>periodically</a:t>
            </a:r>
            <a:r>
              <a:rPr lang="fr-FR" dirty="0"/>
              <a:t>: </a:t>
            </a:r>
            <a:r>
              <a:rPr lang="fr-FR" dirty="0" err="1"/>
              <a:t>even</a:t>
            </a:r>
            <a:r>
              <a:rPr lang="fr-FR" dirty="0"/>
              <a:t>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stay</a:t>
            </a:r>
            <a:r>
              <a:rPr lang="fr-FR" dirty="0"/>
              <a:t> in the </a:t>
            </a:r>
            <a:r>
              <a:rPr lang="fr-FR" dirty="0" err="1"/>
              <a:t>same</a:t>
            </a:r>
            <a:r>
              <a:rPr lang="fr-FR" dirty="0"/>
              <a:t> application and </a:t>
            </a:r>
            <a:r>
              <a:rPr lang="fr-FR" dirty="0" err="1"/>
              <a:t>you</a:t>
            </a:r>
            <a:r>
              <a:rPr lang="fr-FR" dirty="0"/>
              <a:t> have </a:t>
            </a:r>
            <a:r>
              <a:rPr lang="fr-FR" dirty="0" err="1"/>
              <a:t>worked</a:t>
            </a:r>
            <a:r>
              <a:rPr lang="fr-FR" dirty="0"/>
              <a:t> </a:t>
            </a:r>
            <a:r>
              <a:rPr lang="fr-FR" dirty="0" err="1"/>
              <a:t>deeply</a:t>
            </a:r>
            <a:r>
              <a:rPr lang="fr-FR" dirty="0"/>
              <a:t> on </a:t>
            </a:r>
            <a:r>
              <a:rPr lang="fr-FR" dirty="0" err="1"/>
              <a:t>hypermaters</a:t>
            </a:r>
            <a:r>
              <a:rPr lang="fr-FR" dirty="0"/>
              <a:t>.   =&gt; Hyper-</a:t>
            </a:r>
            <a:r>
              <a:rPr lang="fr-FR" dirty="0" err="1"/>
              <a:t>parameters</a:t>
            </a:r>
            <a:r>
              <a:rPr lang="fr-FR" dirty="0"/>
              <a:t> / </a:t>
            </a:r>
            <a:r>
              <a:rPr lang="fr-FR" dirty="0" err="1"/>
              <a:t>field</a:t>
            </a:r>
            <a:r>
              <a:rPr lang="fr-FR" dirty="0"/>
              <a:t>. </a:t>
            </a:r>
            <a:r>
              <a:rPr lang="fr-FR" dirty="0" err="1"/>
              <a:t>Intersteing</a:t>
            </a:r>
            <a:r>
              <a:rPr lang="fr-FR" dirty="0"/>
              <a:t> but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revisited</a:t>
            </a:r>
            <a:r>
              <a:rPr lang="fr-FR" dirty="0"/>
              <a:t> </a:t>
            </a:r>
            <a:r>
              <a:rPr lang="fr-FR" dirty="0" err="1"/>
              <a:t>periodically</a:t>
            </a:r>
            <a:r>
              <a:rPr lang="fr-FR" dirty="0"/>
              <a:t>…</a:t>
            </a:r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252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5FF9-90C1-FDE5-569B-001F5150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274A28-7596-5BB1-19FC-C4CBE93E3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667FF9-7A33-1B68-44F2-9E03E000B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506451-01C8-01AC-2C92-A1D4A1E30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079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E4A8D-BCAE-87CF-3134-96B69D73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BB01EF-2ECC-C161-9D2C-4D68AAACF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739E6E-8476-8853-65ED-CCCF5385F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265347-C358-59E0-5321-FDDD5B9DF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584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C93F6-FFB1-563F-BDFE-3CAF85F7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AFA8E31-BBAA-58AA-DF00-915894F4E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22372D-6F7A-644C-B669-F81E8B141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205E56-D815-0508-5D78-9070F93D4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834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4C30-513C-F536-56CD-7F387D08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208054-B817-D8D4-3CDD-0FBAF7716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3B7E27-9208-DFB7-ECCD-3D06DFAB3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6B617B-C969-93BA-1C71-99646A524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355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C5ACD-1F63-EC59-E12A-235F6EB8B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C40365-6105-A90F-AD96-85A30BE5C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04725B-F67C-7BA7-4C7F-FDB2FBAE7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259F45-3626-BB0C-2A4E-49FA25D48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7040-1C4D-484F-94E6-C3202C131336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06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29D51-4BE6-8B45-9D22-75E6055B9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BFDFCC-C628-A24F-8117-DB5A7337B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E082D7-7C5F-FA44-BF58-70E6EEF4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fld id="{E1D74182-0C44-B44A-A59F-E3FD637BB670}" type="datetime1">
              <a:rPr lang="en-US" noProof="0" smtClean="0"/>
              <a:t>12/1/24</a:t>
            </a:fld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B4F70-06CF-8345-AB0D-5A8EF2165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23D7E6-8195-3646-B03B-7C5D57E9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4442913D-96FF-F743-AD47-C343CD11A9A1}" type="slidenum">
              <a:rPr lang="en-US" noProof="0" smtClean="0"/>
              <a:pPr/>
              <a:t>‹N°›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1555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BD2F0-82D7-604E-ADCA-16B504EF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24DE03-0020-EE4F-8E63-741804099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3E89C-E56C-4C41-8ADD-AA096B4D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3DFD-58D7-8949-94FA-A7791BD11B7F}" type="datetime1">
              <a:rPr lang="en-US" noProof="0" smtClean="0"/>
              <a:t>12/1/24</a:t>
            </a:fld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D9EB2-0960-194E-8CA9-EB665A63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2D274B-FE53-4740-89D7-6231433A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‹N°›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243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CD84A-39A0-E643-912C-80445E1DF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9605C-2E55-C641-9F9D-660D7EE23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6619F1-AACF-364C-BB43-A52ADE70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A159-9FAF-0445-A07F-5EC3195892DC}" type="datetime1">
              <a:rPr lang="fr-FR" smtClean="0"/>
              <a:t>01/12/2024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1D9AEC-B2AA-534D-A59D-B418A57A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790F2C-A112-B340-BD0F-6F0F0235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64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AC9DA0-F76D-4144-8B07-2BF4B9711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7C1C1E-4140-6E48-B70F-22D40189D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FBB017-70B9-6C46-B9BF-F73453737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DE0D75-3E7A-074E-A86B-87992811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790E-C690-9F4F-8981-B63D2EAE5F04}" type="datetime1">
              <a:rPr lang="fr-FR" smtClean="0"/>
              <a:t>01/12/2024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201853-CC49-054A-8159-924667F7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478611-8854-F845-9B4A-5CF3BF61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23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43B0AB-C199-B348-9CF6-B1F80C41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0ACBB8-AD2C-374D-A1BC-F3099F443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AC6B25-D6E6-5A44-A232-A2B74A887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C2334B-A689-154A-BA12-D4AFA7BE9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9962B3-9DBB-6B4C-8DA0-A17C1ED1A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82155FA-D15B-9946-B8D5-5AAD9AAC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4FE3-5172-744D-A36A-5987A0CC7181}" type="datetime1">
              <a:rPr lang="fr-FR" smtClean="0"/>
              <a:t>01/12/2024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36FE183-10E5-604E-8FE1-0304F38B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030948-F57C-B949-9C6D-5B1C9301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45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8C6FE3-E62E-7445-ACD2-E0E8660E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8A226C-CC42-1548-9716-A290FEAE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667-4F42-7E44-B825-D0E5212F3DC1}" type="datetime1">
              <a:rPr lang="fr-FR" smtClean="0"/>
              <a:t>01/12/2024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43D23B-37B9-F245-BAF7-E628E033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D6FEB5-3A4F-CE4B-9244-C7874AD3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BE78145-2D8F-8F4C-ADC8-D767C035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3F50-2798-984E-BE49-BF5BD79943FE}" type="datetime1">
              <a:rPr lang="fr-FR" smtClean="0"/>
              <a:t>01/12/2024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8B84AB-A559-D04A-AEF5-DA0ECF9E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1B236B-7CFE-6C4E-BC1A-48564D15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88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92B8B2-2E28-F743-ABDB-499ED137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304583-0854-9B40-BF0C-D114341D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C1E6FE-EBCF-9F49-AD0E-293BB88D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652CA5-8250-1B4C-A5F5-04DE38C7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98EB-4A49-4248-839C-0B1D41C28640}" type="datetime1">
              <a:rPr lang="fr-FR" smtClean="0"/>
              <a:t>01/12/2024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5C4A3-0E0F-0941-BEE4-9CCDFDC2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9A2A4D-12EB-C84D-8473-504EF1EF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11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862971-F37E-4F4E-97D8-9202B7765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BB6669-B819-D64C-B5D6-EAE14EDD9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8EE5E79-37AF-CD47-8AEC-11623DEF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F4D93D-128D-CF46-BF56-1E7E9F12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0CF6-C0FF-674B-99C7-7772791413E9}" type="datetime1">
              <a:rPr lang="fr-FR" smtClean="0"/>
              <a:t>01/12/2024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51F8A7-6D9E-2945-BBCE-91D85D8E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7F105D-513A-1B4F-8E84-8CEEEAEE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87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781DA-D4BF-E242-82DF-59A18BB5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A9757C-CA71-0146-994E-D83B4A5A3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7F98F8-38E9-4648-8FCF-FDE7457F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C4D8-19B4-FF48-906F-D12E295AF17F}" type="datetime1">
              <a:rPr lang="fr-FR" smtClean="0"/>
              <a:t>01/12/2024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99D037-616D-FC43-B9D9-B32BD868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81D845-C185-1445-87F8-512F6AF4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071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E4C1C2B-A936-2940-9ED8-65B5F35E4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EDCBE5-1870-7C47-B411-3FBD42DA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709A5C-65F5-0D40-BB06-A9A32437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EBAB-CCDA-BC44-A295-64CB440DE28B}" type="datetime1">
              <a:rPr lang="fr-FR" smtClean="0"/>
              <a:t>01/12/2024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1991C1-2038-5A4E-8E1E-BC98A35F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5E7F81-11C9-594D-8A07-EB494F24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229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08FB04B-8BA2-8C48-9F94-C335F039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EAC7DA-A8B2-DA41-99B6-C4D1EB7B9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noProof="0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46AE4C-61DD-C141-B76B-6B40028A2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9E27B-30C6-B74F-9C53-A0E5458DA197}" type="datetime1">
              <a:rPr lang="en-US" noProof="0" smtClean="0"/>
              <a:t>12/1/24</a:t>
            </a:fld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342310-4C35-AD4D-955C-6BC9774E4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64690-284A-DA44-B932-F1E39403E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2913D-96FF-F743-AD47-C343CD11A9A1}" type="slidenum">
              <a:rPr lang="en-US" noProof="0" smtClean="0"/>
              <a:pPr/>
              <a:t>‹N°›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595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11163" indent="-411163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1.png"/><Relationship Id="rId2" Type="http://schemas.openxmlformats.org/officeDocument/2006/relationships/image" Target="../media/image116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5" Type="http://schemas.openxmlformats.org/officeDocument/2006/relationships/image" Target="../media/image1090.png"/><Relationship Id="rId4" Type="http://schemas.openxmlformats.org/officeDocument/2006/relationships/image" Target="../media/image10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12.6980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8.01878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0.png"/><Relationship Id="rId5" Type="http://schemas.openxmlformats.org/officeDocument/2006/relationships/image" Target="../media/image1160.png"/><Relationship Id="rId4" Type="http://schemas.openxmlformats.org/officeDocument/2006/relationships/image" Target="../media/image11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0.png"/><Relationship Id="rId5" Type="http://schemas.openxmlformats.org/officeDocument/2006/relationships/image" Target="../media/image1190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2.03167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92.png"/><Relationship Id="rId18" Type="http://schemas.openxmlformats.org/officeDocument/2006/relationships/image" Target="../media/image197.png"/><Relationship Id="rId3" Type="http://schemas.openxmlformats.org/officeDocument/2006/relationships/image" Target="../media/image19.png"/><Relationship Id="rId21" Type="http://schemas.openxmlformats.org/officeDocument/2006/relationships/image" Target="../media/image20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17" Type="http://schemas.openxmlformats.org/officeDocument/2006/relationships/image" Target="../media/image19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4.png"/><Relationship Id="rId15" Type="http://schemas.openxmlformats.org/officeDocument/2006/relationships/image" Target="../media/image194.png"/><Relationship Id="rId10" Type="http://schemas.openxmlformats.org/officeDocument/2006/relationships/image" Target="../media/image189.png"/><Relationship Id="rId19" Type="http://schemas.openxmlformats.org/officeDocument/2006/relationships/image" Target="../media/image198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Relationship Id="rId14" Type="http://schemas.openxmlformats.org/officeDocument/2006/relationships/image" Target="../media/image19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2C87B5-9E19-294B-AF66-F7D3EEB76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40087"/>
          </a:xfrm>
        </p:spPr>
        <p:txBody>
          <a:bodyPr>
            <a:normAutofit/>
          </a:bodyPr>
          <a:lstStyle/>
          <a:p>
            <a:r>
              <a:rPr lang="fr-FR" dirty="0"/>
              <a:t>Course</a:t>
            </a:r>
            <a:br>
              <a:rPr lang="fr-FR" dirty="0"/>
            </a:br>
            <a:r>
              <a:rPr lang="fr-FR" i="1" dirty="0"/>
              <a:t>«  </a:t>
            </a:r>
            <a:r>
              <a:rPr lang="en-US" i="1" dirty="0"/>
              <a:t>Deep Learning</a:t>
            </a:r>
            <a:r>
              <a:rPr lang="fr-FR" i="1" dirty="0"/>
              <a:t> »</a:t>
            </a:r>
            <a:br>
              <a:rPr lang="fr-FR" i="1" dirty="0"/>
            </a:br>
            <a:endParaRPr lang="fr-FR" i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9DF4CA-6C20-F74A-8179-257EA008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2449"/>
            <a:ext cx="9144000" cy="2144367"/>
          </a:xfrm>
        </p:spPr>
        <p:txBody>
          <a:bodyPr>
            <a:normAutofit/>
          </a:bodyPr>
          <a:lstStyle/>
          <a:p>
            <a:r>
              <a:rPr lang="fr-FR" dirty="0"/>
              <a:t>Sid-Ahmed </a:t>
            </a:r>
            <a:r>
              <a:rPr lang="fr-FR" dirty="0" err="1"/>
              <a:t>Berrani</a:t>
            </a:r>
            <a:endParaRPr lang="fr-FR" dirty="0"/>
          </a:p>
          <a:p>
            <a:endParaRPr lang="fr-FR" dirty="0"/>
          </a:p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ENSIA</a:t>
            </a:r>
          </a:p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2024 – 2025</a:t>
            </a:r>
          </a:p>
          <a:p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50B6B1-58CA-7C40-823B-528403B5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954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873254-EA3F-804B-8E11-351DAC09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89DA23-C6A7-164C-899F-25195F3F1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training step is highly time-consuming.</a:t>
            </a:r>
          </a:p>
          <a:p>
            <a:r>
              <a:rPr lang="en-US" dirty="0"/>
              <a:t>It requires optimization.</a:t>
            </a:r>
          </a:p>
          <a:p>
            <a:r>
              <a:rPr lang="en-US" dirty="0"/>
              <a:t>Optimization can deal with:</a:t>
            </a:r>
          </a:p>
          <a:p>
            <a:pPr lvl="1"/>
            <a:r>
              <a:rPr lang="en-US" dirty="0"/>
              <a:t>The way the training dataset is processed.</a:t>
            </a:r>
          </a:p>
          <a:p>
            <a:pPr lvl="1"/>
            <a:r>
              <a:rPr lang="en-US" dirty="0"/>
              <a:t>Weights adaptation.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fr-FR" sz="1800" dirty="0"/>
          </a:p>
          <a:p>
            <a:endParaRPr lang="en-US" sz="18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A63117-DFF2-074B-819C-EF566197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80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Mini-batch gradient descent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744C45-75F3-A842-BE44-CB48085A1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094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Training in a huge dataset → Training is slow</a:t>
            </a:r>
          </a:p>
          <a:p>
            <a:r>
              <a:rPr lang="en-US" sz="2400" dirty="0"/>
              <a:t>On batch gradient descent:</a:t>
            </a:r>
          </a:p>
          <a:p>
            <a:pPr lvl="1"/>
            <a:r>
              <a:rPr lang="en-US" sz="2000" dirty="0"/>
              <a:t>Weights are modified only when the whole dataset is processed.</a:t>
            </a:r>
          </a:p>
          <a:p>
            <a:pPr lvl="1"/>
            <a:r>
              <a:rPr lang="en-US" sz="2000" dirty="0"/>
              <a:t>Training is slow</a:t>
            </a:r>
          </a:p>
          <a:p>
            <a:r>
              <a:rPr lang="en-US" sz="2400" dirty="0"/>
              <a:t>If m= 10</a:t>
            </a:r>
            <a:r>
              <a:rPr lang="en-US" sz="2400" baseline="30000" dirty="0"/>
              <a:t>7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	We divide the dataset into mini-batches of 1000 examples each.</a:t>
            </a:r>
            <a:endParaRPr lang="en-US" sz="20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3</a:t>
            </a:fld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DCC3EEF-7063-1247-9CF0-9087C4A31006}"/>
                  </a:ext>
                </a:extLst>
              </p:cNvPr>
              <p:cNvSpPr txBox="1"/>
              <p:nvPr/>
            </p:nvSpPr>
            <p:spPr>
              <a:xfrm>
                <a:off x="1020089" y="4766320"/>
                <a:ext cx="10777438" cy="4944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  =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  <m:sSup>
                            <m:sSup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p>
                            <m:sSup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800" i="1">
                                          <a:latin typeface="Cambria Math" panose="02040503050406030204" pitchFamily="18" charset="0"/>
                                        </a:rPr>
                                        <m:t>100</m:t>
                                      </m:r>
                                      <m:r>
                                        <a:rPr lang="fr-F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sz="2800" i="1">
                                          <a:latin typeface="Cambria Math" panose="02040503050406030204" pitchFamily="18" charset="0"/>
                                        </a:rPr>
                                        <m:t>000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… </m:t>
                          </m:r>
                          <m:sSup>
                            <m:sSup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DCC3EEF-7063-1247-9CF0-9087C4A31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89" y="4766320"/>
                <a:ext cx="10777438" cy="494494"/>
              </a:xfrm>
              <a:prstGeom prst="rect">
                <a:avLst/>
              </a:prstGeom>
              <a:blipFill>
                <a:blip r:embed="rId2"/>
                <a:stretch>
                  <a:fillRect l="-588" b="-27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030699DB-9554-0249-9176-18A24AD8D2D5}"/>
              </a:ext>
            </a:extLst>
          </p:cNvPr>
          <p:cNvSpPr txBox="1"/>
          <p:nvPr/>
        </p:nvSpPr>
        <p:spPr>
          <a:xfrm>
            <a:off x="1143000" y="5088700"/>
            <a:ext cx="74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i="1" dirty="0"/>
              <a:t>(</a:t>
            </a:r>
            <a:r>
              <a:rPr lang="fr-FR" i="1" dirty="0" err="1"/>
              <a:t>n</a:t>
            </a:r>
            <a:r>
              <a:rPr lang="fr-FR" i="1" baseline="-25000" dirty="0" err="1"/>
              <a:t>x</a:t>
            </a:r>
            <a:r>
              <a:rPr lang="fr-FR" i="1" dirty="0" err="1"/>
              <a:t>,m</a:t>
            </a:r>
            <a:r>
              <a:rPr lang="fr-FR" i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FC03CC9-15CA-A546-965A-38F1B9521699}"/>
                  </a:ext>
                </a:extLst>
              </p:cNvPr>
              <p:cNvSpPr txBox="1"/>
              <p:nvPr/>
            </p:nvSpPr>
            <p:spPr>
              <a:xfrm>
                <a:off x="603178" y="5562211"/>
                <a:ext cx="11454164" cy="502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p>
                            <m:sSup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800" i="1">
                                          <a:latin typeface="Cambria Math" panose="02040503050406030204" pitchFamily="18" charset="0"/>
                                        </a:rPr>
                                        <m:t>100</m:t>
                                      </m:r>
                                      <m:r>
                                        <a:rPr lang="fr-F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sz="2800" i="1">
                                          <a:latin typeface="Cambria Math" panose="02040503050406030204" pitchFamily="18" charset="0"/>
                                        </a:rPr>
                                        <m:t>000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… </m:t>
                          </m:r>
                          <m:sSup>
                            <m:sSup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FC03CC9-15CA-A546-965A-38F1B9521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78" y="5562211"/>
                <a:ext cx="11454164" cy="502317"/>
              </a:xfrm>
              <a:prstGeom prst="rect">
                <a:avLst/>
              </a:prstGeom>
              <a:blipFill>
                <a:blip r:embed="rId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18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9B98F0-E884-4443-BFF4-F514F2BD5691}"/>
              </a:ext>
            </a:extLst>
          </p:cNvPr>
          <p:cNvSpPr/>
          <p:nvPr/>
        </p:nvSpPr>
        <p:spPr>
          <a:xfrm>
            <a:off x="5029200" y="1690688"/>
            <a:ext cx="2099733" cy="115411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Mini-batch Gradient Descent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744C45-75F3-A842-BE44-CB48085A1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001"/>
            <a:ext cx="10515600" cy="4351338"/>
          </a:xfrm>
        </p:spPr>
        <p:txBody>
          <a:bodyPr>
            <a:normAutofit lnSpcReduction="10000"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For all the mini-batches:</a:t>
            </a:r>
            <a:r>
              <a:rPr lang="en-US" sz="2400" dirty="0"/>
              <a:t>		</a:t>
            </a:r>
          </a:p>
          <a:p>
            <a:pPr marL="0" indent="0">
              <a:buNone/>
            </a:pPr>
            <a:r>
              <a:rPr lang="en-US" sz="2400" dirty="0"/>
              <a:t>		Perform forward propagation using the one mini-batch</a:t>
            </a:r>
          </a:p>
          <a:p>
            <a:pPr marL="0" indent="0">
              <a:buNone/>
            </a:pPr>
            <a:r>
              <a:rPr lang="en-US" sz="2400" dirty="0"/>
              <a:t>		Compute the cost using only the considered mini-batch</a:t>
            </a:r>
          </a:p>
          <a:p>
            <a:pPr marL="0" indent="0">
              <a:buNone/>
            </a:pPr>
            <a:r>
              <a:rPr lang="en-US" sz="2400" dirty="0"/>
              <a:t>		Implement backpropagation to compute gradients</a:t>
            </a:r>
          </a:p>
          <a:p>
            <a:pPr marL="0" indent="0">
              <a:buNone/>
            </a:pPr>
            <a:r>
              <a:rPr lang="en-US" sz="2400" dirty="0"/>
              <a:t>		Update weights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Until going thru the whole dataset =&gt; One </a:t>
            </a:r>
            <a:r>
              <a:rPr lang="en-US" sz="2400" b="1" dirty="0"/>
              <a:t>epoch</a:t>
            </a:r>
            <a:r>
              <a:rPr lang="en-US" sz="2400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4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B523B9D-E75A-FA4A-A0DA-6FD93CEA8103}"/>
                  </a:ext>
                </a:extLst>
              </p:cNvPr>
              <p:cNvSpPr txBox="1"/>
              <p:nvPr/>
            </p:nvSpPr>
            <p:spPr>
              <a:xfrm>
                <a:off x="4237422" y="1870075"/>
                <a:ext cx="7954578" cy="3533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100</m:t>
                                      </m:r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000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… </m:t>
                          </m:r>
                          <m:sSup>
                            <m:sSup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B523B9D-E75A-FA4A-A0DA-6FD93CEA8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422" y="1870075"/>
                <a:ext cx="7954578" cy="353302"/>
              </a:xfrm>
              <a:prstGeom prst="rect">
                <a:avLst/>
              </a:prstGeom>
              <a:blipFill>
                <a:blip r:embed="rId3"/>
                <a:stretch>
                  <a:fillRect b="-241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8D1A1BF-8C2D-084A-ABB8-2472E50F40E5}"/>
                  </a:ext>
                </a:extLst>
              </p:cNvPr>
              <p:cNvSpPr txBox="1"/>
              <p:nvPr/>
            </p:nvSpPr>
            <p:spPr>
              <a:xfrm>
                <a:off x="3939043" y="2358314"/>
                <a:ext cx="8579105" cy="3533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p>
                            <m:s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100</m:t>
                                      </m:r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000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… </m:t>
                          </m:r>
                          <m:sSup>
                            <m:sSup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8D1A1BF-8C2D-084A-ABB8-2472E50F4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043" y="2358314"/>
                <a:ext cx="8579105" cy="353302"/>
              </a:xfrm>
              <a:prstGeom prst="rect">
                <a:avLst/>
              </a:prstGeom>
              <a:blipFill>
                <a:blip r:embed="rId4"/>
                <a:stretch>
                  <a:fillRect b="-241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92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873254-EA3F-804B-8E11-351DAC09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Mini-batch Gradient Descent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A63117-DFF2-074B-819C-EF566197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fr-FR" smtClean="0"/>
              <a:t>5</a:t>
            </a:fld>
            <a:endParaRPr lang="fr-FR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94B9A1A-B029-C242-A0DF-55BE4D1BA9AF}"/>
              </a:ext>
            </a:extLst>
          </p:cNvPr>
          <p:cNvGrpSpPr/>
          <p:nvPr/>
        </p:nvGrpSpPr>
        <p:grpSpPr>
          <a:xfrm>
            <a:off x="634192" y="2442105"/>
            <a:ext cx="4157942" cy="3666986"/>
            <a:chOff x="380192" y="2747169"/>
            <a:chExt cx="4157942" cy="3666986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3CFAD7E5-5887-CD4D-949F-23186F695EE9}"/>
                </a:ext>
              </a:extLst>
            </p:cNvPr>
            <p:cNvGrpSpPr/>
            <p:nvPr/>
          </p:nvGrpSpPr>
          <p:grpSpPr>
            <a:xfrm>
              <a:off x="626534" y="2747169"/>
              <a:ext cx="3911600" cy="2965450"/>
              <a:chOff x="440267" y="3573463"/>
              <a:chExt cx="3911600" cy="2965450"/>
            </a:xfrm>
          </p:grpSpPr>
          <p:cxnSp>
            <p:nvCxnSpPr>
              <p:cNvPr id="4" name="Connecteur droit avec flèche 3">
                <a:extLst>
                  <a:ext uri="{FF2B5EF4-FFF2-40B4-BE49-F238E27FC236}">
                    <a16:creationId xmlns:a16="http://schemas.microsoft.com/office/drawing/2014/main" id="{82AA6EFB-1095-3B4E-9A9E-4B531319BE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400" y="3573463"/>
                <a:ext cx="0" cy="2965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eur droit avec flèche 9">
                <a:extLst>
                  <a:ext uri="{FF2B5EF4-FFF2-40B4-BE49-F238E27FC236}">
                    <a16:creationId xmlns:a16="http://schemas.microsoft.com/office/drawing/2014/main" id="{E108BA02-6944-0944-A538-2F38B02168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267" y="6356350"/>
                <a:ext cx="3911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48E2F37F-E393-AA4C-A80D-42B6F8C1BF54}"/>
                </a:ext>
              </a:extLst>
            </p:cNvPr>
            <p:cNvSpPr txBox="1"/>
            <p:nvPr/>
          </p:nvSpPr>
          <p:spPr>
            <a:xfrm>
              <a:off x="2037296" y="5706269"/>
              <a:ext cx="158979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Iterations</a:t>
              </a:r>
            </a:p>
            <a:p>
              <a:pPr algn="ctr"/>
              <a:r>
                <a:rPr lang="en-US" sz="2000" dirty="0"/>
                <a:t>(Batch mode)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B0B078D9-2FA6-DF43-8AD2-F4FD0C458A65}"/>
                </a:ext>
              </a:extLst>
            </p:cNvPr>
            <p:cNvSpPr txBox="1"/>
            <p:nvPr/>
          </p:nvSpPr>
          <p:spPr>
            <a:xfrm rot="16200000">
              <a:off x="260127" y="3938558"/>
              <a:ext cx="6402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2000" dirty="0" err="1"/>
                <a:t>Cost</a:t>
              </a:r>
              <a:endParaRPr lang="fr-FR" sz="2000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D1DC6DA-0D91-F547-A142-A434ABED4143}"/>
              </a:ext>
            </a:extLst>
          </p:cNvPr>
          <p:cNvGrpSpPr/>
          <p:nvPr/>
        </p:nvGrpSpPr>
        <p:grpSpPr>
          <a:xfrm>
            <a:off x="5824258" y="2442105"/>
            <a:ext cx="4157942" cy="3666986"/>
            <a:chOff x="380192" y="2747169"/>
            <a:chExt cx="4157942" cy="3666986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48A250D4-5735-D644-B2B9-66D497C3116A}"/>
                </a:ext>
              </a:extLst>
            </p:cNvPr>
            <p:cNvGrpSpPr/>
            <p:nvPr/>
          </p:nvGrpSpPr>
          <p:grpSpPr>
            <a:xfrm>
              <a:off x="626534" y="2747169"/>
              <a:ext cx="3911600" cy="2965450"/>
              <a:chOff x="440267" y="3573463"/>
              <a:chExt cx="3911600" cy="2965450"/>
            </a:xfrm>
          </p:grpSpPr>
          <p:cxnSp>
            <p:nvCxnSpPr>
              <p:cNvPr id="21" name="Connecteur droit avec flèche 20">
                <a:extLst>
                  <a:ext uri="{FF2B5EF4-FFF2-40B4-BE49-F238E27FC236}">
                    <a16:creationId xmlns:a16="http://schemas.microsoft.com/office/drawing/2014/main" id="{3364F1AA-9148-9F47-8B04-06851AE2E4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400" y="3573463"/>
                <a:ext cx="0" cy="2965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9C540557-9FAA-C145-8D75-CCF369C86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267" y="6356350"/>
                <a:ext cx="3911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F286B03-F9BB-EF47-85BE-19B1BE332D74}"/>
                </a:ext>
              </a:extLst>
            </p:cNvPr>
            <p:cNvSpPr txBox="1"/>
            <p:nvPr/>
          </p:nvSpPr>
          <p:spPr>
            <a:xfrm>
              <a:off x="1763986" y="5706269"/>
              <a:ext cx="21364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Iterations</a:t>
              </a:r>
            </a:p>
            <a:p>
              <a:pPr algn="ctr"/>
              <a:r>
                <a:rPr lang="en-US" sz="2000" dirty="0"/>
                <a:t>(Mini-batch mode)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AEA48A4-0290-C44C-85DC-EC74CAA8A530}"/>
                </a:ext>
              </a:extLst>
            </p:cNvPr>
            <p:cNvSpPr txBox="1"/>
            <p:nvPr/>
          </p:nvSpPr>
          <p:spPr>
            <a:xfrm rot="16200000">
              <a:off x="260127" y="3938558"/>
              <a:ext cx="6402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2000" dirty="0" err="1"/>
                <a:t>Cost</a:t>
              </a:r>
              <a:endParaRPr lang="fr-F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064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Mini-batch Gradient Descent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744C45-75F3-A842-BE44-CB48085A1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00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What about the size of the mini-batch?</a:t>
            </a:r>
          </a:p>
          <a:p>
            <a:r>
              <a:rPr lang="en-US" sz="2000" dirty="0"/>
              <a:t>The mini-batch size should be between the two extreme cases:</a:t>
            </a:r>
          </a:p>
          <a:p>
            <a:pPr marL="0" indent="0">
              <a:buNone/>
            </a:pPr>
            <a:r>
              <a:rPr lang="en-US" sz="2000" dirty="0"/>
              <a:t>	if (mini-batch size = m)	:	Batch gradient descent.</a:t>
            </a:r>
          </a:p>
          <a:p>
            <a:pPr marL="0" indent="0">
              <a:buNone/>
            </a:pPr>
            <a:r>
              <a:rPr lang="en-US" sz="2000" dirty="0"/>
              <a:t>	if (mini-batch size = 1)	:	stochastic gradient descent.</a:t>
            </a:r>
          </a:p>
          <a:p>
            <a:pPr marL="0" indent="0">
              <a:buNone/>
            </a:pPr>
            <a:r>
              <a:rPr lang="en-US" sz="2000" dirty="0"/>
              <a:t>					(The term "stochastic" indicates that the singe example 					is chosen at random).</a:t>
            </a:r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51375-F269-F146-BC0A-F3124932F275}"/>
              </a:ext>
            </a:extLst>
          </p:cNvPr>
          <p:cNvSpPr/>
          <p:nvPr/>
        </p:nvSpPr>
        <p:spPr>
          <a:xfrm>
            <a:off x="5350933" y="4782702"/>
            <a:ext cx="65362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02124"/>
                </a:solidFill>
                <a:latin typeface="Roboto"/>
              </a:rPr>
              <a:t>Mini-batch stochastic gradient descent</a:t>
            </a:r>
            <a:r>
              <a:rPr lang="en-US" dirty="0">
                <a:solidFill>
                  <a:srgbClr val="202124"/>
                </a:solidFill>
                <a:latin typeface="Roboto"/>
              </a:rPr>
              <a:t>: Mini-batch GD where examples of each mini-batch are randomly chosen.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5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Mini-batch Gradient Descent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744C45-75F3-A842-BE44-CB48085A1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00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What about the size of the mini-batch?</a:t>
            </a:r>
          </a:p>
          <a:p>
            <a:r>
              <a:rPr lang="en-US" sz="2000" dirty="0"/>
              <a:t>Remember: The mini-batch mode is useful when the training set is very large in order to reduce the cost of the training.</a:t>
            </a:r>
          </a:p>
          <a:p>
            <a:r>
              <a:rPr lang="en-US" sz="2000" dirty="0"/>
              <a:t>It is important to make sure that the mini-batch fits in the CPU/GPU memory of the machine.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/>
              <a:t>	=&gt; It depends on the application and the size of a single training example.</a:t>
            </a:r>
          </a:p>
          <a:p>
            <a:pPr marL="0" indent="0">
              <a:buNone/>
            </a:pPr>
            <a:r>
              <a:rPr lang="en-US" sz="2000" dirty="0"/>
              <a:t>In practice:</a:t>
            </a:r>
          </a:p>
          <a:p>
            <a:pPr marL="0" indent="0">
              <a:buNone/>
            </a:pPr>
            <a:r>
              <a:rPr lang="en-US" sz="2000" dirty="0"/>
              <a:t>	If the size of the training dataset &lt; few thousands of examples =&gt; Use the batch mode.</a:t>
            </a:r>
          </a:p>
          <a:p>
            <a:pPr marL="0" indent="0">
              <a:buNone/>
            </a:pPr>
            <a:r>
              <a:rPr lang="en-US" sz="2000" dirty="0"/>
              <a:t>	Otherwise =&gt;	 64	128	256	1024	…	2</a:t>
            </a:r>
            <a:r>
              <a:rPr lang="en-US" sz="2000" baseline="30000" dirty="0"/>
              <a:t>k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The mini-batch size is a hyper-parameter.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734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Grad. Descent Analysis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1D6E48-4B15-6440-97FB-C9D40EABB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suffers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/>
              <a:t>Local minima</a:t>
            </a:r>
          </a:p>
          <a:p>
            <a:pPr marL="0" indent="0">
              <a:buNone/>
            </a:pPr>
            <a:r>
              <a:rPr lang="fr-FR" b="1" dirty="0"/>
              <a:t>	</a:t>
            </a:r>
            <a:r>
              <a:rPr lang="fr-FR" b="1" dirty="0" err="1"/>
              <a:t>Saddle</a:t>
            </a:r>
            <a:r>
              <a:rPr lang="fr-FR" b="1" dirty="0"/>
              <a:t> points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04B8943-5323-2D41-B8DA-2A7757872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979" y="2773123"/>
            <a:ext cx="3111501" cy="40536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733D810-7088-AB49-8537-5035D95DB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283" y="2978966"/>
            <a:ext cx="3454250" cy="385310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102FD4D-0FB7-5D48-8498-F79A93041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358" y="2142883"/>
            <a:ext cx="5378773" cy="403408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4D5E7DD-5535-4245-ADBC-10CE0FAE4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" y="3858826"/>
            <a:ext cx="3747629" cy="22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0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Grad. Descent Analysis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1D6E48-4B15-6440-97FB-C9D40EABB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suffers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:</a:t>
            </a:r>
          </a:p>
          <a:p>
            <a:pPr marL="0" indent="0" fontAlgn="base">
              <a:buNone/>
            </a:pPr>
            <a:r>
              <a:rPr lang="fr-FR" b="1" dirty="0"/>
              <a:t>	</a:t>
            </a:r>
            <a:r>
              <a:rPr lang="fr-FR" b="1" dirty="0" err="1"/>
              <a:t>Pathological</a:t>
            </a:r>
            <a:r>
              <a:rPr lang="fr-FR" b="1" dirty="0"/>
              <a:t> </a:t>
            </a:r>
            <a:r>
              <a:rPr lang="fr-FR" b="1" dirty="0" err="1"/>
              <a:t>Curvature</a:t>
            </a:r>
            <a:endParaRPr lang="fr-FR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668E02-4C0D-254A-AE47-79B0A37D0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3097477"/>
            <a:ext cx="5327004" cy="325887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00693BF-968B-ED42-A85D-B8C95358F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571" y="3010032"/>
            <a:ext cx="5804029" cy="343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5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482D-832A-9789-37D2-175C946ED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B1828-3CD0-E83C-3246-496888EF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EWA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FDBAA8-7162-EEA6-DE0F-02924263E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892675"/>
          </a:xfrm>
        </p:spPr>
        <p:txBody>
          <a:bodyPr>
            <a:normAutofit/>
          </a:bodyPr>
          <a:lstStyle/>
          <a:p>
            <a:r>
              <a:rPr lang="en-US" sz="2000" dirty="0"/>
              <a:t>The exponentially weighted (moving) averages</a:t>
            </a:r>
          </a:p>
          <a:p>
            <a:r>
              <a:rPr lang="en-US" sz="2000" b="1" dirty="0"/>
              <a:t>Example:</a:t>
            </a:r>
            <a:r>
              <a:rPr lang="en-US" sz="2000" dirty="0"/>
              <a:t> Temperatures</a:t>
            </a:r>
          </a:p>
          <a:p>
            <a:pPr marL="0" indent="0">
              <a:buNone/>
            </a:pPr>
            <a:r>
              <a:rPr lang="en-US" sz="2000" dirty="0"/>
              <a:t>	T</a:t>
            </a:r>
            <a:r>
              <a:rPr lang="en-US" sz="2000" baseline="-25000" dirty="0"/>
              <a:t>1</a:t>
            </a:r>
            <a:r>
              <a:rPr lang="en-US" sz="2000" dirty="0"/>
              <a:t> = 10</a:t>
            </a:r>
          </a:p>
          <a:p>
            <a:pPr marL="0" indent="0">
              <a:buNone/>
            </a:pPr>
            <a:r>
              <a:rPr lang="en-US" sz="2000" dirty="0"/>
              <a:t>	T</a:t>
            </a:r>
            <a:r>
              <a:rPr lang="en-US" sz="2000" baseline="-25000" dirty="0"/>
              <a:t>2</a:t>
            </a:r>
            <a:r>
              <a:rPr lang="en-US" sz="2000" dirty="0"/>
              <a:t> = 8</a:t>
            </a:r>
          </a:p>
          <a:p>
            <a:pPr marL="0" indent="0">
              <a:buNone/>
            </a:pPr>
            <a:r>
              <a:rPr lang="en-US" sz="2000" dirty="0"/>
              <a:t>	   …</a:t>
            </a:r>
          </a:p>
          <a:p>
            <a:pPr marL="0" indent="0">
              <a:buNone/>
            </a:pPr>
            <a:r>
              <a:rPr lang="en-US" sz="2000" dirty="0"/>
              <a:t>	T</a:t>
            </a:r>
            <a:r>
              <a:rPr lang="en-US" sz="2000" baseline="-25000" dirty="0"/>
              <a:t>n</a:t>
            </a:r>
            <a:r>
              <a:rPr lang="en-US" sz="2000" dirty="0"/>
              <a:t> = 3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objective is to compute the “trend” of the temperature:   V</a:t>
            </a:r>
            <a:r>
              <a:rPr lang="en-US" sz="2000" baseline="-25000" dirty="0"/>
              <a:t>0</a:t>
            </a:r>
            <a:r>
              <a:rPr lang="en-US" sz="2000" dirty="0"/>
              <a:t> = 0</a:t>
            </a:r>
          </a:p>
          <a:p>
            <a:pPr marL="0" indent="0">
              <a:buNone/>
            </a:pPr>
            <a:r>
              <a:rPr lang="en-US" sz="2000" dirty="0"/>
              <a:t>							V</a:t>
            </a:r>
            <a:r>
              <a:rPr lang="en-US" sz="2000" baseline="-25000" dirty="0"/>
              <a:t>1</a:t>
            </a:r>
            <a:r>
              <a:rPr lang="en-US" sz="2000" dirty="0"/>
              <a:t> = 0.9 * V</a:t>
            </a:r>
            <a:r>
              <a:rPr lang="en-US" sz="2000" baseline="-25000" dirty="0"/>
              <a:t>0</a:t>
            </a:r>
            <a:r>
              <a:rPr lang="en-US" sz="2000" dirty="0"/>
              <a:t> + 0.1 * T</a:t>
            </a:r>
            <a:r>
              <a:rPr lang="en-US" sz="2000" baseline="-25000" dirty="0"/>
              <a:t>1</a:t>
            </a:r>
          </a:p>
          <a:p>
            <a:pPr marL="0" indent="0">
              <a:buNone/>
            </a:pPr>
            <a:r>
              <a:rPr lang="en-US" sz="2000" dirty="0"/>
              <a:t>							V</a:t>
            </a:r>
            <a:r>
              <a:rPr lang="en-US" sz="2000" baseline="-25000" dirty="0"/>
              <a:t>2</a:t>
            </a:r>
            <a:r>
              <a:rPr lang="en-US" sz="2000" dirty="0"/>
              <a:t> = 0.9 * V</a:t>
            </a:r>
            <a:r>
              <a:rPr lang="en-US" sz="2000" baseline="-25000" dirty="0"/>
              <a:t>1</a:t>
            </a:r>
            <a:r>
              <a:rPr lang="en-US" sz="2000" dirty="0"/>
              <a:t> + 0.1 * T</a:t>
            </a:r>
            <a:r>
              <a:rPr lang="en-US" sz="2000" baseline="-25000" dirty="0"/>
              <a:t>2</a:t>
            </a:r>
          </a:p>
          <a:p>
            <a:pPr marL="0" indent="0">
              <a:buNone/>
            </a:pPr>
            <a:r>
              <a:rPr lang="en-US" sz="2000" dirty="0"/>
              <a:t>							…</a:t>
            </a:r>
          </a:p>
          <a:p>
            <a:pPr marL="0" indent="0">
              <a:buNone/>
            </a:pPr>
            <a:r>
              <a:rPr lang="en-US" sz="2000" dirty="0"/>
              <a:t>							V</a:t>
            </a:r>
            <a:r>
              <a:rPr lang="en-US" sz="2000" baseline="-25000" dirty="0"/>
              <a:t>t</a:t>
            </a:r>
            <a:r>
              <a:rPr lang="en-US" sz="2000" dirty="0"/>
              <a:t> = 0.9 * V</a:t>
            </a:r>
            <a:r>
              <a:rPr lang="en-US" sz="2000" baseline="-25000" dirty="0"/>
              <a:t>t-1</a:t>
            </a:r>
            <a:r>
              <a:rPr lang="en-US" sz="2000" dirty="0"/>
              <a:t> + 0.1 * T</a:t>
            </a:r>
            <a:r>
              <a:rPr lang="en-US" sz="2000" baseline="-25000" dirty="0"/>
              <a:t>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18FAED-4366-A530-B63B-078657BA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CE7ADBF-ABA3-EE7D-FA2A-21F6092A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0" y="1906930"/>
            <a:ext cx="4672624" cy="261788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2173BFB-200A-AD10-9A3B-1F966DD0E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299" y="1935403"/>
            <a:ext cx="4672624" cy="261788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7389C2C-CEDE-80B5-EEEE-8A17C7D99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052" y="2006920"/>
            <a:ext cx="4905024" cy="250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5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8312-5C8B-5C8D-3B09-0BA8EE38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8A730-96C7-0416-7D24-808C3CB9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EWA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2D9C38-C304-D3B4-3B31-0DA6CB53F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8800"/>
                <a:ext cx="10515600" cy="489267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The exponentially weighted (moving) averages</a:t>
                </a:r>
              </a:p>
              <a:p>
                <a:pPr marL="0" indent="0">
                  <a:buNone/>
                </a:pPr>
                <a:r>
                  <a:rPr lang="en-US" sz="2000" baseline="-25000" dirty="0"/>
                  <a:t>		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−1+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baseline="-25000" dirty="0"/>
              </a:p>
              <a:p>
                <a:pPr marL="0" indent="0">
                  <a:buNone/>
                </a:pPr>
                <a:r>
                  <a:rPr lang="en-US" sz="2000" baseline="-25000" dirty="0"/>
                  <a:t>		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𝑎𝑣𝑒𝑟𝑎𝑔𝑒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𝑑𝑎𝑦𝑠</m:t>
                    </m:r>
                  </m:oMath>
                </a14:m>
                <a:endParaRPr lang="en-US" sz="2000" baseline="-25000" dirty="0"/>
              </a:p>
              <a:p>
                <a:pPr marL="0" indent="0">
                  <a:buNone/>
                </a:pPr>
                <a:r>
                  <a:rPr lang="en-US" sz="2000" baseline="-25000" dirty="0"/>
                  <a:t>	</a:t>
                </a:r>
                <a:r>
                  <a:rPr lang="en-US" sz="2000" dirty="0">
                    <a:solidFill>
                      <a:srgbClr val="FF0000"/>
                    </a:solidFill>
                  </a:rPr>
                  <a:t>if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=0.90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𝑎𝑣𝑒𝑟𝑎𝑔𝑒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≈10 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𝑑𝑎𝑦𝑠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aseline="-25000" dirty="0"/>
                  <a:t>	</a:t>
                </a:r>
                <a:r>
                  <a:rPr lang="en-US" sz="2000" dirty="0">
                    <a:solidFill>
                      <a:srgbClr val="00B050"/>
                    </a:solidFill>
                  </a:rPr>
                  <a:t>if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=0.98</m:t>
                    </m:r>
                    <m:r>
                      <a:rPr lang="en-US" sz="20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𝑎𝑣𝑒𝑟𝑎𝑔𝑒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≈50 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𝑑𝑎𝑦𝑠</m:t>
                    </m:r>
                  </m:oMath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	if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=0.50</m:t>
                    </m:r>
                    <m: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𝑎𝑣𝑒𝑟𝑎𝑔𝑒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 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𝑑𝑎𝑦𝑠</m:t>
                    </m:r>
                  </m:oMath>
                </a14:m>
                <a:endParaRPr lang="en-US" sz="20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2D9C38-C304-D3B4-3B31-0DA6CB53F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8800"/>
                <a:ext cx="10515600" cy="4892675"/>
              </a:xfrm>
              <a:blipFill>
                <a:blip r:embed="rId3"/>
                <a:stretch>
                  <a:fillRect l="-603" t="-1554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3213EF-5BAF-D46D-10B7-3B0C5B17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B5B9B07-AC1C-73F5-7E7B-DC88A62DE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762" y="1934805"/>
            <a:ext cx="4797425" cy="244546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8190E93-914C-15A5-184D-9704DD3CF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761" y="1926506"/>
            <a:ext cx="4797425" cy="244546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C49634B-403D-283E-1342-03A1E2902A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9760" y="1909408"/>
            <a:ext cx="4797425" cy="24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3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Grad. Descent with Momentum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A9389B9-D4D6-6242-BEE9-14D2662A3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271" y="2280441"/>
            <a:ext cx="5915052" cy="3723217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123FF73F-9160-3D4A-B6AF-8DFC05BA3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001"/>
            <a:ext cx="5816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Principle of Momentum:</a:t>
            </a:r>
          </a:p>
          <a:p>
            <a:pPr marL="0" indent="0">
              <a:buNone/>
            </a:pPr>
            <a:r>
              <a:rPr lang="en-US" sz="2400" dirty="0"/>
              <a:t>Instead of using only the gradient of the current step to guide the search, momentum also accumulates the gradient of the past steps to determine the direction to go.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043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Grad. Descent with Momentum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2744C45-75F3-A842-BE44-CB48085A1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8800"/>
                <a:ext cx="10515600" cy="48926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Basic idea: Compute the exponentially weighted (moving) averages of gradients (EWAG).</a:t>
                </a:r>
              </a:p>
              <a:p>
                <a:r>
                  <a:rPr lang="en-US" b="1" dirty="0"/>
                  <a:t>At step </a:t>
                </a:r>
                <a:r>
                  <a:rPr lang="en-US" b="1" i="1" dirty="0" err="1"/>
                  <a:t>i</a:t>
                </a:r>
                <a:r>
                  <a:rPr lang="en-US" b="1" dirty="0"/>
                  <a:t>: </a:t>
                </a:r>
                <a:r>
                  <a:rPr lang="en-US" dirty="0"/>
                  <a:t>Use EWAG to update the weights.</a:t>
                </a:r>
              </a:p>
              <a:p>
                <a:pPr marL="0" indent="0">
                  <a:buNone/>
                </a:pPr>
                <a:r>
                  <a:rPr lang="en-US" dirty="0"/>
                  <a:t>	Compute gradients </a:t>
                </a:r>
                <a:r>
                  <a:rPr lang="en-US" i="1" dirty="0" err="1"/>
                  <a:t>dw</a:t>
                </a:r>
                <a:r>
                  <a:rPr lang="en-US" i="1" dirty="0"/>
                  <a:t>, </a:t>
                </a:r>
                <a:r>
                  <a:rPr lang="en-US" i="1" dirty="0" err="1"/>
                  <a:t>db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smtClean="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𝑑𝑤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𝑑𝑏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i="1" baseline="-25000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:r>
                  <a:rPr lang="en-US" b="1" dirty="0">
                    <a:solidFill>
                      <a:schemeClr val="accent1"/>
                    </a:solidFill>
                  </a:rPr>
                  <a:t>Hyper-parameter: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2744C45-75F3-A842-BE44-CB48085A1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8800"/>
                <a:ext cx="10515600" cy="4892675"/>
              </a:xfrm>
              <a:blipFill>
                <a:blip r:embed="rId3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00432C-35B0-6F3A-78B9-A634E6AC8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481" y="2628901"/>
            <a:ext cx="5010049" cy="315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8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182E-02AB-B132-4A0A-4B502696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CE54B1B-7A72-54D2-534E-E9E204D2D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498" y="1187276"/>
            <a:ext cx="5399990" cy="3399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1843F6-9A5E-FC22-F41E-EE66BE9A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RMSProp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75BCA32-EB58-D17E-A19A-4AFC9D79E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2066" y="1800135"/>
                <a:ext cx="11029422" cy="492133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RMSProp : Root Mean Square </a:t>
                </a:r>
                <a:r>
                  <a:rPr lang="en-US" b="1" dirty="0" err="1"/>
                  <a:t>Propogation</a:t>
                </a:r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It was devised by Geoffrey Hinton, while suggesting 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a random idea during a Coursera class (!).</a:t>
                </a:r>
              </a:p>
              <a:p>
                <a:pPr marL="0" indent="0">
                  <a:buNone/>
                </a:pP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dirty="0"/>
                  <a:t>	Compute gradients </a:t>
                </a:r>
                <a:r>
                  <a:rPr lang="en-US" sz="2400" i="1" dirty="0"/>
                  <a:t>dw1, dw2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baseline="30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	</a:t>
                </a:r>
                <a:r>
                  <a:rPr lang="en-US" sz="2400" dirty="0"/>
                  <a:t>		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𝑑𝑤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/>
                  <a:t>is large =&gt; movement along w1 is slowed down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	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2:=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2−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𝑑𝑤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𝑑𝑤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sz="2400" dirty="0"/>
                  <a:t>.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/>
                  <a:t>is small =&gt; movement along w2 is speeded up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75BCA32-EB58-D17E-A19A-4AFC9D79E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2066" y="1800135"/>
                <a:ext cx="11029422" cy="4921339"/>
              </a:xfrm>
              <a:blipFill>
                <a:blip r:embed="rId4"/>
                <a:stretch>
                  <a:fillRect l="-921" t="-3085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0124E2-3876-21FC-32AC-82C0D697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914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6E1E704-D546-E94E-A80B-D61BC5D31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270" y="2201689"/>
            <a:ext cx="4705729" cy="296201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RMSProp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2744C45-75F3-A842-BE44-CB48085A1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2066" y="1800136"/>
                <a:ext cx="7738534" cy="46334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err="1"/>
                  <a:t>RMSProp</a:t>
                </a:r>
                <a:r>
                  <a:rPr lang="en-US" b="1" dirty="0"/>
                  <a:t> : Root Mean Square </a:t>
                </a:r>
                <a:r>
                  <a:rPr lang="en-US" b="1" dirty="0" err="1"/>
                  <a:t>Propogation</a:t>
                </a:r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r>
                  <a:rPr lang="en-US" i="1" dirty="0"/>
                  <a:t>It was devised by Geoffrey Hinton, while suggesting a random idea during a Coursera class (!).</a:t>
                </a:r>
              </a:p>
              <a:p>
                <a:r>
                  <a:rPr lang="en-US" b="1" dirty="0"/>
                  <a:t>At step </a:t>
                </a:r>
                <a:r>
                  <a:rPr lang="en-US" b="1" i="1" dirty="0" err="1"/>
                  <a:t>i</a:t>
                </a:r>
                <a:r>
                  <a:rPr lang="en-US" b="1" dirty="0"/>
                  <a:t>: </a:t>
                </a:r>
                <a:r>
                  <a:rPr lang="en-US" dirty="0"/>
                  <a:t>Use EWAG to update the weights.</a:t>
                </a:r>
              </a:p>
              <a:p>
                <a:pPr marL="0" indent="0">
                  <a:buNone/>
                </a:pPr>
                <a:r>
                  <a:rPr lang="en-US" dirty="0"/>
                  <a:t>	Compute gradients </a:t>
                </a:r>
                <a:r>
                  <a:rPr lang="en-US" i="1" dirty="0" err="1"/>
                  <a:t>dw</a:t>
                </a:r>
                <a:r>
                  <a:rPr lang="en-US" i="1" dirty="0"/>
                  <a:t>, </a:t>
                </a:r>
                <a:r>
                  <a:rPr lang="en-US" i="1" dirty="0" err="1"/>
                  <a:t>db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baseline="30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𝑑𝑤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US" dirty="0"/>
                  <a:t>		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𝑑𝑤</m:t>
                    </m:r>
                  </m:oMath>
                </a14:m>
                <a:endParaRPr lang="en-US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		</a:t>
                </a:r>
                <a:endParaRPr lang="en-US" b="1" i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2744C45-75F3-A842-BE44-CB48085A1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2066" y="1800136"/>
                <a:ext cx="7738534" cy="4633474"/>
              </a:xfrm>
              <a:blipFill>
                <a:blip r:embed="rId4"/>
                <a:stretch>
                  <a:fillRect l="-1639" t="-2186" r="-4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15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DCADF82-41E0-C94B-AC7D-EE57F733F0F7}"/>
                  </a:ext>
                </a:extLst>
              </p:cNvPr>
              <p:cNvSpPr txBox="1"/>
              <p:nvPr/>
            </p:nvSpPr>
            <p:spPr>
              <a:xfrm>
                <a:off x="4368710" y="5028704"/>
                <a:ext cx="6235122" cy="1692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𝐿𝑒𝑎𝑟𝑛𝑖𝑛𝑔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𝑅𝑀𝑆𝑃𝑟𝑜𝑝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200" b="1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200" b="1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dw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Exponential average of squares  of gradients</a:t>
                </a:r>
              </a:p>
              <a:p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𝜼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𝐶𝑜𝑚𝑝𝑢𝑡𝑒𝑑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𝑙𝑒𝑎𝑟𝑛𝑖𝑛𝑔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𝑤𝑒𝑖𝑔h𝑡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DCADF82-41E0-C94B-AC7D-EE57F733F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710" y="5028704"/>
                <a:ext cx="6235122" cy="1692771"/>
              </a:xfrm>
              <a:prstGeom prst="rect">
                <a:avLst/>
              </a:prstGeom>
              <a:blipFill>
                <a:blip r:embed="rId5"/>
                <a:stretch>
                  <a:fillRect l="-2642" b="-67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C2480B-C9EF-B849-BED1-6E8876530D4B}"/>
                  </a:ext>
                </a:extLst>
              </p:cNvPr>
              <p:cNvSpPr/>
              <p:nvPr/>
            </p:nvSpPr>
            <p:spPr>
              <a:xfrm>
                <a:off x="8859795" y="5690423"/>
                <a:ext cx="30188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</a:rPr>
                  <a:t>Hyper-parameter: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en-US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𝟗𝟗𝟗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C2480B-C9EF-B849-BED1-6E8876530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795" y="5690423"/>
                <a:ext cx="3018840" cy="369332"/>
              </a:xfrm>
              <a:prstGeom prst="rect">
                <a:avLst/>
              </a:prstGeom>
              <a:blipFill>
                <a:blip r:embed="rId6"/>
                <a:stretch>
                  <a:fillRect l="-1681" t="-6667" b="-2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302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Adam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666470-EF67-A549-AD9A-67668233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combination of Momentum and </a:t>
            </a:r>
            <a:r>
              <a:rPr lang="en-US" dirty="0" err="1"/>
              <a:t>RMSProp</a:t>
            </a:r>
            <a:r>
              <a:rPr lang="en-US" dirty="0"/>
              <a:t>.</a:t>
            </a:r>
          </a:p>
          <a:p>
            <a:r>
              <a:rPr lang="en-US" dirty="0"/>
              <a:t>It takes advantages of the two heuristics: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Momentum:</a:t>
            </a:r>
            <a:r>
              <a:rPr lang="en-US" dirty="0"/>
              <a:t> Accelerates the search in direction of minima.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RMSPropo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fr-FR" dirty="0" err="1"/>
              <a:t>Impedes</a:t>
            </a:r>
            <a:r>
              <a:rPr lang="fr-FR" dirty="0"/>
              <a:t> the </a:t>
            </a:r>
            <a:r>
              <a:rPr lang="fr-FR" dirty="0" err="1"/>
              <a:t>search</a:t>
            </a:r>
            <a:r>
              <a:rPr lang="fr-FR" dirty="0"/>
              <a:t> in direction of oscillations.</a:t>
            </a:r>
          </a:p>
          <a:p>
            <a:r>
              <a:rPr lang="fr-FR" dirty="0"/>
              <a:t>ADAM -&gt; Adaptive Moment Estimation.</a:t>
            </a:r>
          </a:p>
          <a:p>
            <a:endParaRPr lang="fr-FR" dirty="0"/>
          </a:p>
          <a:p>
            <a:r>
              <a:rPr lang="fr-FR" sz="2000" dirty="0" err="1"/>
              <a:t>Ref</a:t>
            </a:r>
            <a:r>
              <a:rPr lang="fr-FR" sz="2000" dirty="0"/>
              <a:t>.: « ADAM: A METHOD FOR STOCHASTIC OPTIMIZATION ». ICLR 2015. By Diederik P. </a:t>
            </a:r>
            <a:r>
              <a:rPr lang="fr-FR" sz="2000" dirty="0" err="1"/>
              <a:t>Kingma</a:t>
            </a:r>
            <a:r>
              <a:rPr lang="fr-FR" sz="2000" dirty="0"/>
              <a:t> and Jimmy Lei Ba. </a:t>
            </a:r>
            <a:r>
              <a:rPr lang="fr-FR" sz="2000" dirty="0">
                <a:hlinkClick r:id="rId3"/>
              </a:rPr>
              <a:t>https://arxiv.org/pdf/1412.6980.pdf</a:t>
            </a:r>
            <a:r>
              <a:rPr lang="fr-FR" sz="2000" dirty="0"/>
              <a:t>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3898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Adam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17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3AF18B0C-33E2-E94B-8BBA-7040A3635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2066" y="1905438"/>
                <a:ext cx="7738534" cy="46334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each weight </a:t>
                </a:r>
                <a:r>
                  <a:rPr lang="en-US" b="1" i="1" dirty="0"/>
                  <a:t>w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	Compute gradients </a:t>
                </a:r>
                <a:r>
                  <a:rPr lang="en-US" i="1" dirty="0" err="1"/>
                  <a:t>dw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𝑑𝑤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baseline="30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𝑑𝑤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𝑑𝑤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US" dirty="0"/>
                  <a:t>		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𝑑𝑤</m:t>
                    </m:r>
                  </m:oMath>
                </a14:m>
                <a:endParaRPr lang="en-US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		</a:t>
                </a:r>
                <a:endParaRPr lang="en-US" b="1" i="1" dirty="0"/>
              </a:p>
            </p:txBody>
          </p:sp>
        </mc:Choice>
        <mc:Fallback xmlns="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3AF18B0C-33E2-E94B-8BBA-7040A3635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2066" y="1905438"/>
                <a:ext cx="7738534" cy="4633474"/>
              </a:xfrm>
              <a:blipFill>
                <a:blip r:embed="rId3"/>
                <a:stretch>
                  <a:fillRect l="-1311" t="-19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EE10869-F4E7-1D49-982E-8751CF22C461}"/>
                  </a:ext>
                </a:extLst>
              </p:cNvPr>
              <p:cNvSpPr txBox="1"/>
              <p:nvPr/>
            </p:nvSpPr>
            <p:spPr>
              <a:xfrm>
                <a:off x="5373414" y="3771720"/>
                <a:ext cx="6474372" cy="2369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𝐿𝑒𝑎𝑟𝑛𝑖𝑛𝑔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fr-FR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𝑀𝑜𝑚𝑒𝑛𝑡𝑢𝑚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𝑅𝑀𝑆𝑃𝑟𝑜𝑝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200" b="1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sz="2200" b="1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dw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Exponential average of gradients (</a:t>
                </a:r>
                <a:r>
                  <a:rPr lang="en-US" sz="22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dw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r>
                  <a:rPr lang="en-US" sz="2200" b="1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200" b="1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dw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Exponential average of squares of gradients (</a:t>
                </a:r>
                <a:r>
                  <a:rPr lang="en-US" sz="22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dw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𝜼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𝐶𝑜𝑚𝑝𝑢𝑡𝑒𝑑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𝑙𝑒𝑎𝑟𝑛𝑖𝑛𝑔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𝑤𝑒𝑖𝑔h𝑡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EE10869-F4E7-1D49-982E-8751CF22C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414" y="3771720"/>
                <a:ext cx="6474372" cy="2369880"/>
              </a:xfrm>
              <a:prstGeom prst="rect">
                <a:avLst/>
              </a:prstGeom>
              <a:blipFill>
                <a:blip r:embed="rId4"/>
                <a:stretch>
                  <a:fillRect l="-2544" r="-783" b="-4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130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Momentum,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RMSProp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Adam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69AFFF-08EC-6543-8F03-1E6941042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053"/>
            <a:ext cx="10515600" cy="4251910"/>
          </a:xfrm>
        </p:spPr>
        <p:txBody>
          <a:bodyPr/>
          <a:lstStyle/>
          <a:p>
            <a:r>
              <a:rPr lang="en-US" dirty="0"/>
              <a:t>This introduces four hyper-parameters: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	⍺: </a:t>
            </a:r>
            <a:r>
              <a:rPr lang="en-US" dirty="0"/>
              <a:t>The initial learning rate =&gt; Need to be tunes.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β</a:t>
            </a:r>
            <a:r>
              <a:rPr lang="en-US" b="1" baseline="-25000" dirty="0"/>
              <a:t>1</a:t>
            </a:r>
            <a:r>
              <a:rPr lang="en-US" b="1" dirty="0"/>
              <a:t>: </a:t>
            </a:r>
            <a:r>
              <a:rPr lang="en-US" dirty="0"/>
              <a:t>Momentum factor =&gt; </a:t>
            </a:r>
            <a:r>
              <a:rPr lang="en-US" b="1" dirty="0">
                <a:solidFill>
                  <a:schemeClr val="accent1"/>
                </a:solidFill>
              </a:rPr>
              <a:t>Default value = 0.9.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β</a:t>
            </a:r>
            <a:r>
              <a:rPr lang="en-US" b="1" baseline="-25000" dirty="0"/>
              <a:t>2</a:t>
            </a:r>
            <a:r>
              <a:rPr lang="en-US" b="1" dirty="0"/>
              <a:t>: </a:t>
            </a:r>
            <a:r>
              <a:rPr lang="en-US" dirty="0" err="1"/>
              <a:t>RMSProp</a:t>
            </a:r>
            <a:r>
              <a:rPr lang="en-US" dirty="0"/>
              <a:t> factor =&gt; </a:t>
            </a:r>
            <a:r>
              <a:rPr lang="en-US" b="1" dirty="0">
                <a:solidFill>
                  <a:schemeClr val="accent1"/>
                </a:solidFill>
              </a:rPr>
              <a:t>Default value = 0.999.</a:t>
            </a:r>
          </a:p>
          <a:p>
            <a:pPr marL="0" indent="0">
              <a:buNone/>
            </a:pPr>
            <a:r>
              <a:rPr lang="en-US" dirty="0"/>
              <a:t>	𝞮: Internal parameter =&gt; </a:t>
            </a:r>
            <a:r>
              <a:rPr lang="en-US" b="1" dirty="0">
                <a:solidFill>
                  <a:schemeClr val="accent1"/>
                </a:solidFill>
              </a:rPr>
              <a:t>Default value = 10</a:t>
            </a:r>
            <a:r>
              <a:rPr lang="en-US" b="1" baseline="30000" dirty="0">
                <a:solidFill>
                  <a:schemeClr val="accent1"/>
                </a:solidFill>
              </a:rPr>
              <a:t>-8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9550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Momentum,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RMSProp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Adam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69AFFF-08EC-6543-8F03-1E6941042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053"/>
            <a:ext cx="10515600" cy="4251910"/>
          </a:xfrm>
        </p:spPr>
        <p:txBody>
          <a:bodyPr/>
          <a:lstStyle/>
          <a:p>
            <a:r>
              <a:rPr lang="en-US" dirty="0"/>
              <a:t>We have seen three optimization methods</a:t>
            </a:r>
          </a:p>
          <a:p>
            <a:r>
              <a:rPr lang="en-US" dirty="0"/>
              <a:t>Objective of these methods:</a:t>
            </a:r>
          </a:p>
          <a:p>
            <a:pPr marL="788987" lvl="1" indent="-514350">
              <a:buFont typeface="+mj-lt"/>
              <a:buAutoNum type="arabicPeriod"/>
            </a:pPr>
            <a:r>
              <a:rPr lang="en-US" dirty="0"/>
              <a:t>Deal with the problem of pathological curvature.</a:t>
            </a:r>
          </a:p>
          <a:p>
            <a:pPr marL="788987" lvl="1" indent="-514350">
              <a:buFont typeface="+mj-lt"/>
              <a:buAutoNum type="arabicPeriod"/>
            </a:pPr>
            <a:r>
              <a:rPr lang="en-US" dirty="0"/>
              <a:t>speed up the search from the optimal parameters during training.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methods are also called "Adaptive Methods" since the learning step is adapted according to the topology of the contour.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95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Learning Rate Decay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521756-84B7-C442-B7CF-ACF593F99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 unique and fixed learning rate has many drawbacks.</a:t>
            </a:r>
          </a:p>
          <a:p>
            <a:pPr>
              <a:spcAft>
                <a:spcPts val="600"/>
              </a:spcAft>
            </a:pPr>
            <a:r>
              <a:rPr lang="en-US" dirty="0"/>
              <a:t>A dynamic and variable learning rate is required: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Early learning epochs may require a large learning rate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dirty="0"/>
              <a:t>		=&gt; We are still very far from the solution (minimum)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When we get close to the solution, a smaller learning rate is required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dirty="0"/>
              <a:t>		=&gt; Fine tune the solution.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dirty="0"/>
              <a:t>		=&gt; Avoid turning around the solution without converging.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95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Learning Rate Decay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21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b="1" dirty="0"/>
                  <a:t>Remember: </a:t>
                </a:r>
                <a:r>
                  <a:rPr lang="en-US" dirty="0"/>
                  <a:t>An epoch is completed when the training set has been completed during training.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b="1" dirty="0"/>
                  <a:t>Default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.  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</a:t>
                </a:r>
                <a:r>
                  <a:rPr lang="en-US" i="1" dirty="0"/>
                  <a:t>t+1:</a:t>
                </a:r>
                <a:r>
                  <a:rPr lang="en-US" dirty="0"/>
                  <a:t> number of current epoch.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				</a:t>
                </a:r>
                <a:r>
                  <a:rPr lang="en-US" i="1" dirty="0"/>
                  <a:t>k:</a:t>
                </a:r>
                <a:r>
                  <a:rPr lang="en-US" dirty="0"/>
                  <a:t> a hyper-parameter.</a:t>
                </a:r>
              </a:p>
              <a:p>
                <a:r>
                  <a:rPr lang="en-US" b="1" dirty="0"/>
                  <a:t>Step decay:</a:t>
                </a:r>
              </a:p>
              <a:p>
                <a:pPr marL="0" indent="0">
                  <a:buNone/>
                </a:pPr>
                <a:r>
                  <a:rPr lang="en-US" dirty="0"/>
                  <a:t>	It drops the learning rate by a factor every few epochs.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A typically: Drop the learning rate by half every 10 epochs.</a:t>
                </a:r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086" t="-23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705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Optimization: Learning Rate Decay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22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lnSpcReduction="10000"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Descrete staircase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</m:den>
                        </m:f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</a:t>
                </a:r>
                <a:r>
                  <a:rPr lang="en-US" i="1" dirty="0"/>
                  <a:t>t+1:</a:t>
                </a:r>
                <a:r>
                  <a:rPr lang="en-US" dirty="0"/>
                  <a:t> number of current epoch.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				</a:t>
                </a:r>
                <a:r>
                  <a:rPr lang="en-US" i="1" dirty="0"/>
                  <a:t>k:</a:t>
                </a:r>
                <a:r>
                  <a:rPr lang="en-US" dirty="0"/>
                  <a:t> a hyper-parameter.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b="1" dirty="0"/>
                  <a:t>Exponential Decay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/>
                  <a:t>		</a:t>
                </a:r>
                <a:r>
                  <a:rPr lang="en-US" i="1" dirty="0"/>
                  <a:t>t+1:</a:t>
                </a:r>
                <a:r>
                  <a:rPr lang="en-US" dirty="0"/>
                  <a:t> number of current epoch.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					</a:t>
                </a:r>
                <a:r>
                  <a:rPr lang="en-US" i="1" dirty="0"/>
                  <a:t>k:</a:t>
                </a:r>
                <a:r>
                  <a:rPr lang="en-US" dirty="0"/>
                  <a:t> a hyper-parameter.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900" i="1" dirty="0"/>
                  <a:t>Ref. “How Does Learning Rate Decay Help Modern Neural Networks?”</a:t>
                </a:r>
              </a:p>
              <a:p>
                <a:pPr marL="0" indent="0">
                  <a:buNone/>
                </a:pPr>
                <a:r>
                  <a:rPr lang="en-US" sz="1900" i="1" dirty="0"/>
                  <a:t>By K. You, M. Long, J. Wang, M. I. </a:t>
                </a:r>
                <a:r>
                  <a:rPr lang="en-US" sz="1900" i="1" dirty="0" err="1"/>
                  <a:t>Jordan.</a:t>
                </a:r>
                <a:r>
                  <a:rPr lang="en-US" sz="1900" i="1" dirty="0" err="1">
                    <a:hlinkClick r:id="rId3"/>
                  </a:rPr>
                  <a:t>https</a:t>
                </a:r>
                <a:r>
                  <a:rPr lang="en-US" sz="1900" i="1" dirty="0">
                    <a:hlinkClick r:id="rId3"/>
                  </a:rPr>
                  <a:t>://arxiv.org/abs/1908.01878</a:t>
                </a:r>
                <a:r>
                  <a:rPr lang="en-US" sz="1900" i="1" dirty="0"/>
                  <a:t>  </a:t>
                </a:r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4"/>
                <a:stretch>
                  <a:fillRect l="-965" t="-31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100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Multi-class problem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521756-84B7-C442-B7CF-ACF593F99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895850"/>
          </a:xfrm>
        </p:spPr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We need to generalize (from binary classification) to multiple classes categorization.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From Cat/Non-Cat problem	=&gt; 	Classify animals: cat, dogs, cow, birds, fish...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If we have 3 classes: Dogs, Cats, others.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A903B2-4EE1-624A-B338-4D8BBD1C2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900" y="3892195"/>
            <a:ext cx="5003800" cy="26162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2ABEB2EC-3A70-D247-A3F1-5AC39209B076}"/>
              </a:ext>
            </a:extLst>
          </p:cNvPr>
          <p:cNvSpPr txBox="1"/>
          <p:nvPr/>
        </p:nvSpPr>
        <p:spPr>
          <a:xfrm>
            <a:off x="6123431" y="5412906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dirty="0" err="1"/>
              <a:t>Sigmoid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DD177B-3C2D-CF4F-9BC9-281FCE46F5DC}"/>
              </a:ext>
            </a:extLst>
          </p:cNvPr>
          <p:cNvSpPr/>
          <p:nvPr/>
        </p:nvSpPr>
        <p:spPr>
          <a:xfrm>
            <a:off x="5434721" y="3991729"/>
            <a:ext cx="1602725" cy="2527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AD5DD92E-3237-4F41-9DD6-00996BD1A4FC}"/>
              </a:ext>
            </a:extLst>
          </p:cNvPr>
          <p:cNvGrpSpPr/>
          <p:nvPr/>
        </p:nvGrpSpPr>
        <p:grpSpPr>
          <a:xfrm>
            <a:off x="5293675" y="4222467"/>
            <a:ext cx="1210662" cy="2148171"/>
            <a:chOff x="5846038" y="4243388"/>
            <a:chExt cx="1210662" cy="2148171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3A5B1303-8B64-574E-9395-CF3634131AC1}"/>
                </a:ext>
              </a:extLst>
            </p:cNvPr>
            <p:cNvCxnSpPr/>
            <p:nvPr/>
          </p:nvCxnSpPr>
          <p:spPr>
            <a:xfrm>
              <a:off x="5967168" y="4243388"/>
              <a:ext cx="790820" cy="400050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6FF0C6D-5335-A742-8315-7F47796EF751}"/>
                </a:ext>
              </a:extLst>
            </p:cNvPr>
            <p:cNvSpPr/>
            <p:nvPr/>
          </p:nvSpPr>
          <p:spPr>
            <a:xfrm>
              <a:off x="6756662" y="4575684"/>
              <a:ext cx="300038" cy="3000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3E03CE2-F9CE-DE44-AABF-1D9C8F960ADC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5912040" y="4273550"/>
              <a:ext cx="888562" cy="826006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ABD43CD-9A42-0748-8837-7228F0E2F4DA}"/>
                </a:ext>
              </a:extLst>
            </p:cNvPr>
            <p:cNvSpPr/>
            <p:nvPr/>
          </p:nvSpPr>
          <p:spPr>
            <a:xfrm>
              <a:off x="6756662" y="5517356"/>
              <a:ext cx="300038" cy="3000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6BCCEA6D-4092-764A-8D03-E9AB2ED24362}"/>
                </a:ext>
              </a:extLst>
            </p:cNvPr>
            <p:cNvCxnSpPr>
              <a:cxnSpLocks/>
            </p:cNvCxnSpPr>
            <p:nvPr/>
          </p:nvCxnSpPr>
          <p:spPr>
            <a:xfrm>
              <a:off x="5952880" y="4954446"/>
              <a:ext cx="789494" cy="251190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ADD97E0-84A1-5641-884C-4263E0B97F1E}"/>
                </a:ext>
              </a:extLst>
            </p:cNvPr>
            <p:cNvSpPr/>
            <p:nvPr/>
          </p:nvSpPr>
          <p:spPr>
            <a:xfrm>
              <a:off x="6756662" y="5055617"/>
              <a:ext cx="300038" cy="3000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72635FA3-F2A2-7446-B367-DF5153C62670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5846038" y="4334670"/>
              <a:ext cx="954564" cy="1226625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F6DA8A3F-ABAF-CB41-B773-EED26A12B92A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941610" y="4725703"/>
              <a:ext cx="815052" cy="140350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3152F973-3B4F-6C4A-AF6C-87B9B80D436D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5906603" y="5035081"/>
              <a:ext cx="850059" cy="632294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16AAAE42-17F4-9840-AFC2-0288DEF9D0E9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V="1">
              <a:off x="5906603" y="4831782"/>
              <a:ext cx="893999" cy="737027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A5D84C9D-4A8C-7748-B7AD-748195F80ED0}"/>
                </a:ext>
              </a:extLst>
            </p:cNvPr>
            <p:cNvCxnSpPr>
              <a:cxnSpLocks/>
              <a:endCxn id="14" idx="3"/>
            </p:cNvCxnSpPr>
            <p:nvPr/>
          </p:nvCxnSpPr>
          <p:spPr>
            <a:xfrm flipV="1">
              <a:off x="5941610" y="5311715"/>
              <a:ext cx="858992" cy="339530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46D3A11E-12C1-F940-92AD-F129A1D0A5D8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>
              <a:off x="5923228" y="5748010"/>
              <a:ext cx="877374" cy="25444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12FB37C8-A216-F744-AEF2-18F7BFEEB339}"/>
                </a:ext>
              </a:extLst>
            </p:cNvPr>
            <p:cNvCxnSpPr>
              <a:cxnSpLocks/>
              <a:endCxn id="10" idx="4"/>
            </p:cNvCxnSpPr>
            <p:nvPr/>
          </p:nvCxnSpPr>
          <p:spPr>
            <a:xfrm flipV="1">
              <a:off x="5923228" y="4875721"/>
              <a:ext cx="983453" cy="1352489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9E0976B3-DE9E-6C4A-88AC-CC75FF716337}"/>
                </a:ext>
              </a:extLst>
            </p:cNvPr>
            <p:cNvCxnSpPr>
              <a:cxnSpLocks/>
              <a:endCxn id="14" idx="3"/>
            </p:cNvCxnSpPr>
            <p:nvPr/>
          </p:nvCxnSpPr>
          <p:spPr>
            <a:xfrm flipV="1">
              <a:off x="5948786" y="5311715"/>
              <a:ext cx="851816" cy="982624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5F0F051C-75B3-0045-B6B0-9D72C891A4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404" y="5817393"/>
              <a:ext cx="895756" cy="574166"/>
            </a:xfrm>
            <a:prstGeom prst="line">
              <a:avLst/>
            </a:prstGeom>
            <a:ln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B09F83B-4E29-CF43-8073-9F111A2F405E}"/>
                  </a:ext>
                </a:extLst>
              </p:cNvPr>
              <p:cNvSpPr/>
              <p:nvPr/>
            </p:nvSpPr>
            <p:spPr>
              <a:xfrm>
                <a:off x="7049834" y="4502083"/>
                <a:ext cx="20528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Dog	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  <m:e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B09F83B-4E29-CF43-8073-9F111A2F40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834" y="4502083"/>
                <a:ext cx="2052870" cy="369332"/>
              </a:xfrm>
              <a:prstGeom prst="rect">
                <a:avLst/>
              </a:prstGeom>
              <a:blipFill>
                <a:blip r:embed="rId4"/>
                <a:stretch>
                  <a:fillRect l="-1840" t="-3226" b="-225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A81A26D-8A5B-3B45-81A6-FA66E36FB323}"/>
                  </a:ext>
                </a:extLst>
              </p:cNvPr>
              <p:cNvSpPr/>
              <p:nvPr/>
            </p:nvSpPr>
            <p:spPr>
              <a:xfrm>
                <a:off x="7049833" y="4995233"/>
                <a:ext cx="20353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Cat	</a:t>
                </a:r>
                <a:r>
                  <a:rPr lang="fr-FR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𝑐𝑎𝑡</m:t>
                        </m:r>
                      </m:e>
                      <m:e>
                        <m:r>
                          <a:rPr lang="fr-F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A81A26D-8A5B-3B45-81A6-FA66E36FB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833" y="4995233"/>
                <a:ext cx="2035301" cy="369332"/>
              </a:xfrm>
              <a:prstGeom prst="rect">
                <a:avLst/>
              </a:prstGeom>
              <a:blipFill>
                <a:blip r:embed="rId5"/>
                <a:stretch>
                  <a:fillRect l="-1863" t="-333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D763B8F-657B-884C-A373-547B98CBE3B3}"/>
                  </a:ext>
                </a:extLst>
              </p:cNvPr>
              <p:cNvSpPr/>
              <p:nvPr/>
            </p:nvSpPr>
            <p:spPr>
              <a:xfrm>
                <a:off x="7049833" y="5481303"/>
                <a:ext cx="22751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Other	</a:t>
                </a:r>
                <a:r>
                  <a:rPr lang="fr-FR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𝑜𝑡h𝑒𝑟</m:t>
                        </m:r>
                      </m:e>
                      <m:e>
                        <m:r>
                          <a:rPr lang="fr-F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D763B8F-657B-884C-A373-547B98CBE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833" y="5481303"/>
                <a:ext cx="2275175" cy="369332"/>
              </a:xfrm>
              <a:prstGeom prst="rect">
                <a:avLst/>
              </a:prstGeom>
              <a:blipFill>
                <a:blip r:embed="rId6"/>
                <a:stretch>
                  <a:fillRect l="-1667" t="-10345" b="-241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81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6" grpId="0"/>
      <p:bldP spid="46" grpId="1"/>
      <p:bldP spid="47" grpId="0"/>
      <p:bldP spid="47" grpId="1"/>
      <p:bldP spid="48" grpId="0"/>
      <p:bldP spid="4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Multi-class problem –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Sofmax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24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49000" cy="4895850"/>
              </a:xfrm>
            </p:spPr>
            <p:txBody>
              <a:bodyPr>
                <a:normAutofit lnSpcReduction="10000"/>
              </a:bodyPr>
              <a:lstStyle/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fr-F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</m:oMath>
                </a14:m>
                <a:endParaRPr lang="en-US" sz="2400" dirty="0"/>
              </a:p>
              <a:p>
                <a:pPr>
                  <a:spcAft>
                    <a:spcPts val="1800"/>
                  </a:spcAft>
                </a:pPr>
                <a:r>
                  <a:rPr lang="en-US" sz="2400" dirty="0"/>
                  <a:t>Activation function:</a:t>
                </a:r>
              </a:p>
              <a:p>
                <a:pPr lvl="1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</m:sup>
                    </m:sSup>
                  </m:oMath>
                </a14:m>
                <a:r>
                  <a:rPr lang="en-US" sz="2000" dirty="0"/>
                  <a:t>		(3,1) dim-vector.</a:t>
                </a:r>
              </a:p>
              <a:p>
                <a:pPr lvl="1">
                  <a:spcAft>
                    <a:spcPts val="1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b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sz="2400" dirty="0"/>
                  <a:t>Loss function: </a:t>
                </a:r>
                <a:r>
                  <a:rPr lang="en-US" sz="2400" dirty="0" err="1"/>
                  <a:t>Softmax</a:t>
                </a:r>
                <a:r>
                  <a:rPr lang="en-US" sz="2400" dirty="0"/>
                  <a:t> cross entropy / Categorical Cross-Entropy:</a:t>
                </a:r>
              </a:p>
              <a:p>
                <a:pPr lvl="1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𝑐𝑙𝑎𝑠𝑠𝑒𝑠</m:t>
                        </m:r>
                      </m:sup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;    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𝑔𝑟𝑜𝑢𝑑𝑡𝑟𝑢𝑡h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marL="457200" lvl="1" indent="0" algn="ctr">
                  <a:spcAft>
                    <a:spcPts val="1800"/>
                  </a:spcAft>
                  <a:buNone/>
                </a:pPr>
                <a:r>
                  <a:rPr lang="en-US" sz="4000" dirty="0">
                    <a:solidFill>
                      <a:schemeClr val="accent6">
                        <a:lumMod val="75000"/>
                      </a:schemeClr>
                    </a:solidFill>
                  </a:rPr>
                  <a:t>Exercise</a:t>
                </a:r>
              </a:p>
              <a:p>
                <a:pPr lvl="1">
                  <a:spcAft>
                    <a:spcPts val="18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49000" cy="4895850"/>
              </a:xfrm>
              <a:blipFill>
                <a:blip r:embed="rId3"/>
                <a:stretch>
                  <a:fillRect l="-804" t="-7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e 6">
            <a:extLst>
              <a:ext uri="{FF2B5EF4-FFF2-40B4-BE49-F238E27FC236}">
                <a16:creationId xmlns:a16="http://schemas.microsoft.com/office/drawing/2014/main" id="{7AE4A5C6-C444-F643-B307-6AAC6F377381}"/>
              </a:ext>
            </a:extLst>
          </p:cNvPr>
          <p:cNvGrpSpPr/>
          <p:nvPr/>
        </p:nvGrpSpPr>
        <p:grpSpPr>
          <a:xfrm>
            <a:off x="5631823" y="1690688"/>
            <a:ext cx="6243637" cy="2076123"/>
            <a:chOff x="2052900" y="3892195"/>
            <a:chExt cx="7272108" cy="2627341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5BA903B2-4EE1-624A-B338-4D8BBD1C2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2900" y="3892195"/>
              <a:ext cx="5003800" cy="2616200"/>
            </a:xfrm>
            <a:prstGeom prst="rect">
              <a:avLst/>
            </a:prstGeom>
          </p:spPr>
        </p:pic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2ABEB2EC-3A70-D247-A3F1-5AC39209B076}"/>
                </a:ext>
              </a:extLst>
            </p:cNvPr>
            <p:cNvSpPr txBox="1"/>
            <p:nvPr/>
          </p:nvSpPr>
          <p:spPr>
            <a:xfrm>
              <a:off x="6123431" y="5412906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dirty="0" err="1"/>
                <a:t>Sigmoid</a:t>
              </a:r>
              <a:endParaRPr lang="fr-FR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DD177B-3C2D-CF4F-9BC9-281FCE46F5DC}"/>
                </a:ext>
              </a:extLst>
            </p:cNvPr>
            <p:cNvSpPr/>
            <p:nvPr/>
          </p:nvSpPr>
          <p:spPr>
            <a:xfrm>
              <a:off x="5434721" y="3991729"/>
              <a:ext cx="1602725" cy="25278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AD5DD92E-3237-4F41-9DD6-00996BD1A4FC}"/>
                </a:ext>
              </a:extLst>
            </p:cNvPr>
            <p:cNvGrpSpPr/>
            <p:nvPr/>
          </p:nvGrpSpPr>
          <p:grpSpPr>
            <a:xfrm>
              <a:off x="5293675" y="4222467"/>
              <a:ext cx="1210662" cy="2148171"/>
              <a:chOff x="5846038" y="4243388"/>
              <a:chExt cx="1210662" cy="2148171"/>
            </a:xfrm>
          </p:grpSpPr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3A5B1303-8B64-574E-9395-CF3634131AC1}"/>
                  </a:ext>
                </a:extLst>
              </p:cNvPr>
              <p:cNvCxnSpPr/>
              <p:nvPr/>
            </p:nvCxnSpPr>
            <p:spPr>
              <a:xfrm>
                <a:off x="5967168" y="4243388"/>
                <a:ext cx="790820" cy="400050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46FF0C6D-5335-A742-8315-7F47796EF751}"/>
                  </a:ext>
                </a:extLst>
              </p:cNvPr>
              <p:cNvSpPr/>
              <p:nvPr/>
            </p:nvSpPr>
            <p:spPr>
              <a:xfrm>
                <a:off x="6756662" y="4575684"/>
                <a:ext cx="300038" cy="3000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1" name="Connecteur droit 10">
                <a:extLst>
                  <a:ext uri="{FF2B5EF4-FFF2-40B4-BE49-F238E27FC236}">
                    <a16:creationId xmlns:a16="http://schemas.microsoft.com/office/drawing/2014/main" id="{03E03CE2-F9CE-DE44-AABF-1D9C8F960AD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5912040" y="4273550"/>
                <a:ext cx="888562" cy="826006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8ABD43CD-9A42-0748-8837-7228F0E2F4DA}"/>
                  </a:ext>
                </a:extLst>
              </p:cNvPr>
              <p:cNvSpPr/>
              <p:nvPr/>
            </p:nvSpPr>
            <p:spPr>
              <a:xfrm>
                <a:off x="6756662" y="5517356"/>
                <a:ext cx="300038" cy="3000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6BCCEA6D-4092-764A-8D03-E9AB2ED24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880" y="4954446"/>
                <a:ext cx="789494" cy="251190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DADD97E0-84A1-5641-884C-4263E0B97F1E}"/>
                  </a:ext>
                </a:extLst>
              </p:cNvPr>
              <p:cNvSpPr/>
              <p:nvPr/>
            </p:nvSpPr>
            <p:spPr>
              <a:xfrm>
                <a:off x="6756662" y="5055617"/>
                <a:ext cx="300038" cy="3000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72635FA3-F2A2-7446-B367-DF5153C62670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5846038" y="4334670"/>
                <a:ext cx="954564" cy="1226625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F6DA8A3F-ABAF-CB41-B773-EED26A12B92A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 flipV="1">
                <a:off x="5941610" y="4725703"/>
                <a:ext cx="815052" cy="140350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23">
                <a:extLst>
                  <a:ext uri="{FF2B5EF4-FFF2-40B4-BE49-F238E27FC236}">
                    <a16:creationId xmlns:a16="http://schemas.microsoft.com/office/drawing/2014/main" id="{3152F973-3B4F-6C4A-AF6C-87B9B80D436D}"/>
                  </a:ext>
                </a:extLst>
              </p:cNvPr>
              <p:cNvCxnSpPr>
                <a:cxnSpLocks/>
                <a:endCxn id="12" idx="2"/>
              </p:cNvCxnSpPr>
              <p:nvPr/>
            </p:nvCxnSpPr>
            <p:spPr>
              <a:xfrm>
                <a:off x="5906603" y="5035081"/>
                <a:ext cx="850059" cy="632294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16AAAE42-17F4-9840-AFC2-0288DEF9D0E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 flipV="1">
                <a:off x="5906603" y="4831782"/>
                <a:ext cx="893999" cy="737027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A5D84C9D-4A8C-7748-B7AD-748195F80ED0}"/>
                  </a:ext>
                </a:extLst>
              </p:cNvPr>
              <p:cNvCxnSpPr>
                <a:cxnSpLocks/>
                <a:endCxn id="14" idx="3"/>
              </p:cNvCxnSpPr>
              <p:nvPr/>
            </p:nvCxnSpPr>
            <p:spPr>
              <a:xfrm flipV="1">
                <a:off x="5941610" y="5311715"/>
                <a:ext cx="858992" cy="339530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eur droit 31">
                <a:extLst>
                  <a:ext uri="{FF2B5EF4-FFF2-40B4-BE49-F238E27FC236}">
                    <a16:creationId xmlns:a16="http://schemas.microsoft.com/office/drawing/2014/main" id="{46D3A11E-12C1-F940-92AD-F129A1D0A5D8}"/>
                  </a:ext>
                </a:extLst>
              </p:cNvPr>
              <p:cNvCxnSpPr>
                <a:cxnSpLocks/>
                <a:endCxn id="12" idx="3"/>
              </p:cNvCxnSpPr>
              <p:nvPr/>
            </p:nvCxnSpPr>
            <p:spPr>
              <a:xfrm>
                <a:off x="5923228" y="5748010"/>
                <a:ext cx="877374" cy="25444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12FB37C8-A216-F744-AEF2-18F7BFEEB339}"/>
                  </a:ext>
                </a:extLst>
              </p:cNvPr>
              <p:cNvCxnSpPr>
                <a:cxnSpLocks/>
                <a:endCxn id="10" idx="4"/>
              </p:cNvCxnSpPr>
              <p:nvPr/>
            </p:nvCxnSpPr>
            <p:spPr>
              <a:xfrm flipV="1">
                <a:off x="5923228" y="4875721"/>
                <a:ext cx="983453" cy="1352489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9E0976B3-DE9E-6C4A-88AC-CC75FF716337}"/>
                  </a:ext>
                </a:extLst>
              </p:cNvPr>
              <p:cNvCxnSpPr>
                <a:cxnSpLocks/>
                <a:endCxn id="14" idx="3"/>
              </p:cNvCxnSpPr>
              <p:nvPr/>
            </p:nvCxnSpPr>
            <p:spPr>
              <a:xfrm flipV="1">
                <a:off x="5948786" y="5311715"/>
                <a:ext cx="851816" cy="982624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5F0F051C-75B3-0045-B6B0-9D72C891A4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0404" y="5817393"/>
                <a:ext cx="895756" cy="574166"/>
              </a:xfrm>
              <a:prstGeom prst="line">
                <a:avLst/>
              </a:prstGeom>
              <a:ln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B09F83B-4E29-CF43-8073-9F111A2F405E}"/>
                    </a:ext>
                  </a:extLst>
                </p:cNvPr>
                <p:cNvSpPr/>
                <p:nvPr/>
              </p:nvSpPr>
              <p:spPr>
                <a:xfrm>
                  <a:off x="7049834" y="4502083"/>
                  <a:ext cx="20528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Dog	</a:t>
                  </a:r>
                  <a14:m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𝑑𝑜𝑔</m:t>
                          </m:r>
                        </m:e>
                        <m:e>
                          <m:r>
                            <a:rPr lang="fr-F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B09F83B-4E29-CF43-8073-9F111A2F40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34" y="4502083"/>
                  <a:ext cx="205287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143" t="-8333" r="-8571" b="-541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A81A26D-8A5B-3B45-81A6-FA66E36FB323}"/>
                    </a:ext>
                  </a:extLst>
                </p:cNvPr>
                <p:cNvSpPr/>
                <p:nvPr/>
              </p:nvSpPr>
              <p:spPr>
                <a:xfrm>
                  <a:off x="7049833" y="4995233"/>
                  <a:ext cx="203530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Cat	</a:t>
                  </a:r>
                  <a:r>
                    <a:rPr lang="fr-FR" dirty="0">
                      <a:solidFill>
                        <a:schemeClr val="accent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e>
                        <m:e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A81A26D-8A5B-3B45-81A6-FA66E36FB3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33" y="4995233"/>
                  <a:ext cx="203530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158" t="-8333" r="-8633" b="-541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7D763B8F-657B-884C-A373-547B98CBE3B3}"/>
                    </a:ext>
                  </a:extLst>
                </p:cNvPr>
                <p:cNvSpPr/>
                <p:nvPr/>
              </p:nvSpPr>
              <p:spPr>
                <a:xfrm>
                  <a:off x="7049833" y="5481303"/>
                  <a:ext cx="22751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Other	</a:t>
                  </a:r>
                  <a:r>
                    <a:rPr lang="fr-FR" dirty="0">
                      <a:solidFill>
                        <a:schemeClr val="accent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𝑜𝑡h𝑒𝑟</m:t>
                          </m:r>
                        </m:e>
                        <m:e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7D763B8F-657B-884C-A373-547B98CBE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33" y="5481303"/>
                  <a:ext cx="227517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935" t="-8333" r="-9032" b="-541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FC56D827-10B6-B547-9357-816BDD40CF29}"/>
              </a:ext>
            </a:extLst>
          </p:cNvPr>
          <p:cNvSpPr txBox="1"/>
          <p:nvPr/>
        </p:nvSpPr>
        <p:spPr>
          <a:xfrm>
            <a:off x="8000997" y="3771896"/>
            <a:ext cx="80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dirty="0"/>
              <a:t>Layer3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552B4EB-2603-264A-AE8E-F6B9342D1BF6}"/>
              </a:ext>
            </a:extLst>
          </p:cNvPr>
          <p:cNvSpPr txBox="1"/>
          <p:nvPr/>
        </p:nvSpPr>
        <p:spPr>
          <a:xfrm>
            <a:off x="8924918" y="3351552"/>
            <a:ext cx="80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dirty="0"/>
              <a:t>Layer4</a:t>
            </a:r>
          </a:p>
        </p:txBody>
      </p:sp>
    </p:spTree>
    <p:extLst>
      <p:ext uri="{BB962C8B-B14F-4D97-AF65-F5344CB8AC3E}">
        <p14:creationId xmlns:p14="http://schemas.microsoft.com/office/powerpoint/2010/main" val="3286390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Multi-class problem –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Sofmax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25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345" y="1825625"/>
                <a:ext cx="11443855" cy="48958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/>
                  <a:t>Loss function: </a:t>
                </a:r>
                <a:r>
                  <a:rPr lang="en-US" sz="2400" dirty="0" err="1"/>
                  <a:t>Softmax</a:t>
                </a:r>
                <a:r>
                  <a:rPr lang="en-US" sz="2400" dirty="0"/>
                  <a:t> cross entropy / Categorical Cross-Entropy:</a:t>
                </a:r>
              </a:p>
              <a:p>
                <a:pPr lvl="1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𝑐𝑙𝑎𝑠𝑠𝑒𝑠</m:t>
                        </m:r>
                      </m:sup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;    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𝑔𝑟𝑜𝑢𝑑𝑡𝑟𝑢𝑡h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fr-FR" b="0" dirty="0"/>
              </a:p>
              <a:p>
                <a:pPr lvl="1">
                  <a:spcAft>
                    <a:spcPts val="1800"/>
                  </a:spcAft>
                </a:pPr>
                <a:r>
                  <a:rPr lang="en-US" dirty="0"/>
                  <a:t>Suppose we have 3 classes: </a:t>
                </a:r>
              </a:p>
              <a:p>
                <a:pPr lvl="2">
                  <a:spcAft>
                    <a:spcPts val="1800"/>
                  </a:spcAft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aseline="-25000" dirty="0"/>
                  <a:t>3</a:t>
                </a:r>
                <a:r>
                  <a:rPr lang="en-US" dirty="0"/>
                  <a:t>) are the predicted probabilities for and input e.</a:t>
                </a:r>
              </a:p>
              <a:p>
                <a:pPr lvl="2">
                  <a:spcAft>
                    <a:spcPts val="1800"/>
                  </a:spcAft>
                </a:pPr>
                <a:r>
                  <a:rPr lang="en-US" dirty="0"/>
                  <a:t>(y</a:t>
                </a:r>
                <a:r>
                  <a:rPr lang="en-US" baseline="-25000" dirty="0"/>
                  <a:t>1</a:t>
                </a:r>
                <a:r>
                  <a:rPr lang="en-US" dirty="0"/>
                  <a:t>, y</a:t>
                </a:r>
                <a:r>
                  <a:rPr lang="en-US" baseline="-25000" dirty="0"/>
                  <a:t>2</a:t>
                </a:r>
                <a:r>
                  <a:rPr lang="en-US" dirty="0"/>
                  <a:t>, y</a:t>
                </a:r>
                <a:r>
                  <a:rPr lang="en-US" baseline="-25000" dirty="0"/>
                  <a:t>3</a:t>
                </a:r>
                <a:r>
                  <a:rPr lang="en-US" dirty="0"/>
                  <a:t>) are the target outputs for and input e.</a:t>
                </a:r>
              </a:p>
              <a:p>
                <a:pPr lvl="2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2">
                  <a:spcAft>
                    <a:spcPts val="1800"/>
                  </a:spcAft>
                </a:pPr>
                <a:endParaRPr lang="en-US" dirty="0"/>
              </a:p>
              <a:p>
                <a:pPr lvl="1">
                  <a:spcAft>
                    <a:spcPts val="18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27521756-84B7-C442-B7CF-ACF593F99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345" y="1825625"/>
                <a:ext cx="11443855" cy="4895850"/>
              </a:xfrm>
              <a:blipFill>
                <a:blip r:embed="rId3"/>
                <a:stretch>
                  <a:fillRect l="-776"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 15" descr="Une image contenant texte, Police, blanc, capture d’écran&#10;&#10;Description générée automatiquement">
            <a:extLst>
              <a:ext uri="{FF2B5EF4-FFF2-40B4-BE49-F238E27FC236}">
                <a16:creationId xmlns:a16="http://schemas.microsoft.com/office/drawing/2014/main" id="{ECAE16AE-1E10-DD72-AD0B-33CB819F5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046" y="4885637"/>
            <a:ext cx="5032663" cy="160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18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00155-51EB-F348-817E-96EDCF59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/>
            </a:b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Hyper-parameters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10506F-09AD-2945-A253-17519120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521756-84B7-C442-B7CF-ACF593F99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Learning rate.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Momentum factor		0.9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 err="1"/>
              <a:t>RMSProp</a:t>
            </a:r>
            <a:r>
              <a:rPr lang="en-US" sz="2400" dirty="0"/>
              <a:t> factor		0.999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Adam parameters		(0.9, 0.999, 10</a:t>
            </a:r>
            <a:r>
              <a:rPr lang="en-US" sz="2400" baseline="30000" dirty="0"/>
              <a:t>-8</a:t>
            </a:r>
            <a:r>
              <a:rPr lang="en-US" sz="2400" dirty="0"/>
              <a:t>).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Network architecture: Number of layers, numbers of neurons in hidden layers.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Learning rate decay method + internal parameters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400" dirty="0"/>
              <a:t>Mini batch-size		</a:t>
            </a:r>
          </a:p>
        </p:txBody>
      </p:sp>
    </p:spTree>
    <p:extLst>
      <p:ext uri="{BB962C8B-B14F-4D97-AF65-F5344CB8AC3E}">
        <p14:creationId xmlns:p14="http://schemas.microsoft.com/office/powerpoint/2010/main" val="2156374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1A062-785C-8B28-065E-97717739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17268-481B-9374-F5AD-D6712300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Batch normalization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E74455-85CF-5094-7049-1EEBBA57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CD233B-06C6-8B61-F2F9-C81926DF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892"/>
            <a:ext cx="10311581" cy="5165107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Proposed by Sergey Ioffe &amp; Christian </a:t>
            </a:r>
            <a:r>
              <a:rPr lang="en-US" sz="1800" dirty="0" err="1"/>
              <a:t>Szegedy</a:t>
            </a: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800" b="1" i="1" dirty="0"/>
              <a:t>Batch </a:t>
            </a:r>
            <a:r>
              <a:rPr lang="fr-FR" sz="1800" b="1" i="1" dirty="0" err="1"/>
              <a:t>Normalization</a:t>
            </a:r>
            <a:r>
              <a:rPr lang="fr-FR" sz="1800" b="1" i="1" dirty="0"/>
              <a:t>: </a:t>
            </a:r>
            <a:r>
              <a:rPr lang="fr-FR" sz="1800" b="1" i="1" dirty="0" err="1"/>
              <a:t>Accelerating</a:t>
            </a:r>
            <a:r>
              <a:rPr lang="fr-FR" sz="1800" b="1" i="1" dirty="0"/>
              <a:t> Deep Network Training by </a:t>
            </a:r>
            <a:r>
              <a:rPr lang="fr-FR" sz="1800" b="1" i="1" dirty="0" err="1"/>
              <a:t>Reducing</a:t>
            </a:r>
            <a:r>
              <a:rPr lang="fr-FR" sz="1800" b="1" i="1" dirty="0"/>
              <a:t> </a:t>
            </a:r>
            <a:r>
              <a:rPr lang="fr-FR" sz="1800" b="1" i="1" dirty="0" err="1"/>
              <a:t>Internal</a:t>
            </a:r>
            <a:r>
              <a:rPr lang="fr-FR" sz="1800" b="1" i="1" dirty="0"/>
              <a:t> </a:t>
            </a:r>
            <a:r>
              <a:rPr lang="fr-FR" sz="1800" b="1" i="1" dirty="0" err="1"/>
              <a:t>Covariate</a:t>
            </a:r>
            <a:r>
              <a:rPr lang="fr-FR" sz="1800" b="1" i="1" dirty="0"/>
              <a:t> Shift</a:t>
            </a:r>
            <a:r>
              <a:rPr lang="en-US" sz="1800" dirty="0"/>
              <a:t>, International Conference on Machine Learning 2015.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hlinkClick r:id="rId3"/>
              </a:rPr>
              <a:t>https://arxiv.org/abs/1502.03167</a:t>
            </a:r>
            <a:r>
              <a:rPr lang="en-US" sz="18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800" dirty="0"/>
              <a:t>Normalizing inputs is essential !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800" dirty="0"/>
              <a:t>		</a:t>
            </a:r>
            <a:r>
              <a:rPr lang="en-US" sz="2400" b="1" i="1" dirty="0"/>
              <a:t>Can we normalize the activations of a hidden layer in order to 			efficiently learn the parameters of the next layer ?</a:t>
            </a:r>
            <a:endParaRPr lang="en-US" sz="1800" b="1" i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F4D609-F6A2-DA85-A440-CDE706341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51" y="3613747"/>
            <a:ext cx="3333750" cy="167853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A9F57B9-1663-9F97-2090-35430F5D3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152" y="3613748"/>
            <a:ext cx="4639632" cy="1678531"/>
          </a:xfrm>
          <a:prstGeom prst="rect">
            <a:avLst/>
          </a:prstGeom>
        </p:spPr>
      </p:pic>
      <p:sp>
        <p:nvSpPr>
          <p:cNvPr id="9" name="Flèche vers le bas 8">
            <a:extLst>
              <a:ext uri="{FF2B5EF4-FFF2-40B4-BE49-F238E27FC236}">
                <a16:creationId xmlns:a16="http://schemas.microsoft.com/office/drawing/2014/main" id="{23FEB257-8ED7-97E7-0DCA-4031F2D71BDF}"/>
              </a:ext>
            </a:extLst>
          </p:cNvPr>
          <p:cNvSpPr/>
          <p:nvPr/>
        </p:nvSpPr>
        <p:spPr>
          <a:xfrm>
            <a:off x="7870280" y="3227234"/>
            <a:ext cx="166254" cy="415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/>
          </a:p>
        </p:txBody>
      </p:sp>
      <p:sp>
        <p:nvSpPr>
          <p:cNvPr id="10" name="Flèche vers le bas 9">
            <a:extLst>
              <a:ext uri="{FF2B5EF4-FFF2-40B4-BE49-F238E27FC236}">
                <a16:creationId xmlns:a16="http://schemas.microsoft.com/office/drawing/2014/main" id="{1B4BB56B-9A3D-A08F-DC22-6A131742C9B3}"/>
              </a:ext>
            </a:extLst>
          </p:cNvPr>
          <p:cNvSpPr/>
          <p:nvPr/>
        </p:nvSpPr>
        <p:spPr>
          <a:xfrm>
            <a:off x="8632286" y="3213378"/>
            <a:ext cx="166254" cy="415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/>
          </a:p>
        </p:txBody>
      </p:sp>
      <p:sp>
        <p:nvSpPr>
          <p:cNvPr id="11" name="Flèche vers le bas 10">
            <a:extLst>
              <a:ext uri="{FF2B5EF4-FFF2-40B4-BE49-F238E27FC236}">
                <a16:creationId xmlns:a16="http://schemas.microsoft.com/office/drawing/2014/main" id="{F6C6767B-7112-5568-90DD-DCC6BD25A82E}"/>
              </a:ext>
            </a:extLst>
          </p:cNvPr>
          <p:cNvSpPr/>
          <p:nvPr/>
        </p:nvSpPr>
        <p:spPr>
          <a:xfrm>
            <a:off x="9435850" y="3448904"/>
            <a:ext cx="166254" cy="415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/>
          </a:p>
        </p:txBody>
      </p:sp>
      <p:sp>
        <p:nvSpPr>
          <p:cNvPr id="12" name="Flèche vers le bas 11">
            <a:extLst>
              <a:ext uri="{FF2B5EF4-FFF2-40B4-BE49-F238E27FC236}">
                <a16:creationId xmlns:a16="http://schemas.microsoft.com/office/drawing/2014/main" id="{A8C4D5D3-BD53-A587-C1B7-D316222C7800}"/>
              </a:ext>
            </a:extLst>
          </p:cNvPr>
          <p:cNvSpPr/>
          <p:nvPr/>
        </p:nvSpPr>
        <p:spPr>
          <a:xfrm>
            <a:off x="6332417" y="3158354"/>
            <a:ext cx="166254" cy="415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A0595D-B3AB-9C32-06B5-B008D7611313}"/>
              </a:ext>
            </a:extLst>
          </p:cNvPr>
          <p:cNvSpPr/>
          <p:nvPr/>
        </p:nvSpPr>
        <p:spPr>
          <a:xfrm>
            <a:off x="6110748" y="3158354"/>
            <a:ext cx="1710753" cy="226886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86012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B2D86-007D-EB8A-54C1-DEB28135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E6D82-EDA1-5B15-F096-9B14312E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Batch normalization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8C7A33-275C-6CB9-3607-438D0EDF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28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B73E8C63-0CDD-37DE-B3AD-4E73A3B902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In practice, we normalize </a:t>
                </a:r>
                <a:r>
                  <a:rPr lang="en-US" sz="2400" i="1" dirty="0"/>
                  <a:t>z</a:t>
                </a:r>
                <a:r>
                  <a:rPr lang="en-US" sz="2400" i="1" baseline="30000" dirty="0"/>
                  <a:t>[l]</a:t>
                </a:r>
                <a:r>
                  <a:rPr lang="en-US" sz="2400" dirty="0"/>
                  <a:t> and not </a:t>
                </a:r>
                <a:r>
                  <a:rPr lang="en-US" sz="2400" i="1" dirty="0"/>
                  <a:t>a</a:t>
                </a:r>
                <a:r>
                  <a:rPr lang="en-US" sz="2400" i="1" baseline="30000" dirty="0"/>
                  <a:t>[l]</a:t>
                </a:r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For a hidden layer </a:t>
                </a:r>
                <a:r>
                  <a:rPr lang="en-US" sz="2400" i="1" dirty="0"/>
                  <a:t>l</a:t>
                </a:r>
                <a:r>
                  <a:rPr lang="en-US" sz="2400" dirty="0"/>
                  <a:t>, we have : </a:t>
                </a:r>
                <a:r>
                  <a:rPr lang="en-US" sz="2400" i="1" dirty="0"/>
                  <a:t>z</a:t>
                </a:r>
                <a:r>
                  <a:rPr lang="en-US" sz="2400" i="1" baseline="30000" dirty="0"/>
                  <a:t>(1)</a:t>
                </a:r>
                <a:r>
                  <a:rPr lang="en-US" sz="2400" i="1" dirty="0"/>
                  <a:t>, z</a:t>
                </a:r>
                <a:r>
                  <a:rPr lang="en-US" sz="2400" i="1" baseline="30000" dirty="0"/>
                  <a:t>(2) </a:t>
                </a:r>
                <a:r>
                  <a:rPr lang="en-US" sz="2400" i="1" dirty="0"/>
                  <a:t>… z</a:t>
                </a:r>
                <a:r>
                  <a:rPr lang="en-US" sz="2400" i="1" baseline="30000" dirty="0"/>
                  <a:t>(m) </a:t>
                </a:r>
                <a:r>
                  <a:rPr lang="en-US" sz="2400" dirty="0"/>
                  <a:t>, the output of the layer for the </a:t>
                </a:r>
                <a:r>
                  <a:rPr lang="en-US" sz="2400" i="1" dirty="0"/>
                  <a:t>m</a:t>
                </a:r>
                <a:r>
                  <a:rPr lang="en-US" sz="2400" dirty="0"/>
                  <a:t> training example of the current mini-batch.</a:t>
                </a:r>
              </a:p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	</a:t>
                </a:r>
                <a:r>
                  <a:rPr lang="fr-F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fr-F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	</a:t>
                </a:r>
                <a:r>
                  <a:rPr lang="fr-F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fr-F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	</a:t>
                </a:r>
                <a:r>
                  <a:rPr lang="fr-F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𝑛𝑜𝑟𝑚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fr-F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	</a:t>
                </a:r>
                <a:r>
                  <a:rPr lang="fr-F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𝑛𝑜𝑟𝑚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			</a:t>
                </a:r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B73E8C63-0CDD-37DE-B3AD-4E73A3B90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965" t="-1550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2CC65DC6-2C80-AC2B-5613-9B17504E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153" y="3753992"/>
            <a:ext cx="2936518" cy="1953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D8631CC-AA2B-AF34-0E9B-D3075D9314A3}"/>
                  </a:ext>
                </a:extLst>
              </p:cNvPr>
              <p:cNvSpPr txBox="1"/>
              <p:nvPr/>
            </p:nvSpPr>
            <p:spPr>
              <a:xfrm>
                <a:off x="5705183" y="6169899"/>
                <a:ext cx="60984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:r>
                  <a:rPr lang="en-US" sz="2400" dirty="0"/>
                  <a:t>Here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are </a:t>
                </a:r>
                <a:r>
                  <a:rPr lang="en-US" sz="2400" b="1" dirty="0"/>
                  <a:t>            </a:t>
                </a:r>
                <a:r>
                  <a:rPr lang="en-US" sz="2400" dirty="0"/>
                  <a:t>      parameters.	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D8631CC-AA2B-AF34-0E9B-D3075D93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183" y="6169899"/>
                <a:ext cx="6098458" cy="461665"/>
              </a:xfrm>
              <a:prstGeom prst="rect">
                <a:avLst/>
              </a:prstGeom>
              <a:blipFill>
                <a:blip r:embed="rId5"/>
                <a:stretch>
                  <a:fillRect l="-1663" t="-7895" b="-28947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B0A6351E-C5DD-3B50-86FA-988C717B3DB6}"/>
              </a:ext>
            </a:extLst>
          </p:cNvPr>
          <p:cNvSpPr txBox="1"/>
          <p:nvPr/>
        </p:nvSpPr>
        <p:spPr>
          <a:xfrm>
            <a:off x="7890394" y="6184646"/>
            <a:ext cx="1469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trainable</a:t>
            </a:r>
            <a:endParaRPr lang="fr-DZ" sz="2400" dirty="0"/>
          </a:p>
        </p:txBody>
      </p:sp>
    </p:spTree>
    <p:extLst>
      <p:ext uri="{BB962C8B-B14F-4D97-AF65-F5344CB8AC3E}">
        <p14:creationId xmlns:p14="http://schemas.microsoft.com/office/powerpoint/2010/main" val="421638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16BC-DEF2-9FAF-270B-DDA636D5A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70EBCDFC-A52E-3BCA-682E-E87B0D5AC1A2}"/>
              </a:ext>
            </a:extLst>
          </p:cNvPr>
          <p:cNvGrpSpPr/>
          <p:nvPr/>
        </p:nvGrpSpPr>
        <p:grpSpPr>
          <a:xfrm>
            <a:off x="2944837" y="2177958"/>
            <a:ext cx="6302326" cy="1946484"/>
            <a:chOff x="2944837" y="2630230"/>
            <a:chExt cx="6302326" cy="194648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EA919778-8866-843D-4534-E214F19A7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4837" y="2640062"/>
              <a:ext cx="6302326" cy="1936652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48DD4C-A2B8-B77F-F572-EE68CD0FEF67}"/>
                </a:ext>
              </a:extLst>
            </p:cNvPr>
            <p:cNvSpPr/>
            <p:nvPr/>
          </p:nvSpPr>
          <p:spPr>
            <a:xfrm>
              <a:off x="2954669" y="2630230"/>
              <a:ext cx="329305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DZ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9AF4DE7-8C77-E101-0C0B-9CCD56FE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Batch normalization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43E6CB-D94F-2110-6093-B6B5CCA3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29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762C8970-5E14-20AE-C35E-256D2154D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06873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2400"/>
                  </a:spcAft>
                  <a:buNone/>
                </a:pPr>
                <a:r>
                  <a:rPr lang="en-US" sz="2400" dirty="0"/>
                  <a:t>During forward propagation: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endParaRPr lang="fr-F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20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20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en-US" sz="2000" b="1" dirty="0"/>
                  <a:t>Trainable parameters: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r>
                      <m:rPr>
                        <m:brk m:alnAt="2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[2]</m:t>
                        </m:r>
                      </m:sup>
                    </m:sSup>
                    <m:r>
                      <m:rPr>
                        <m:brk m:alnAt="2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[2]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[3]</m:t>
                        </m:r>
                      </m:sup>
                    </m:sSup>
                    <m:r>
                      <m:rPr>
                        <m:brk m:alnAt="2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[3]</m:t>
                        </m:r>
                      </m:sup>
                    </m:sSup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m:rPr>
                          <m:brk m:alnAt="2"/>
                        </m:rP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m:rPr>
                          <m:brk m:alnAt="2"/>
                        </m:rP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m:rPr>
                          <m:brk m:alnAt="2"/>
                        </m:rP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762C8970-5E14-20AE-C35E-256D2154D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06873" cy="4895850"/>
              </a:xfrm>
              <a:blipFill>
                <a:blip r:embed="rId4"/>
                <a:stretch>
                  <a:fillRect l="-799" t="-1292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3E8E4D2-6CC0-3B04-D8B2-E4498D81FFD1}"/>
                  </a:ext>
                </a:extLst>
              </p:cNvPr>
              <p:cNvSpPr txBox="1"/>
              <p:nvPr/>
            </p:nvSpPr>
            <p:spPr>
              <a:xfrm>
                <a:off x="4609929" y="2315612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3E8E4D2-6CC0-3B04-D8B2-E4498D81F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29" y="2315612"/>
                <a:ext cx="453683" cy="400751"/>
              </a:xfrm>
              <a:prstGeom prst="rect">
                <a:avLst/>
              </a:prstGeom>
              <a:blipFill>
                <a:blip r:embed="rId5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1D6CD0CA-3C39-5263-A121-006940E0717A}"/>
                  </a:ext>
                </a:extLst>
              </p:cNvPr>
              <p:cNvSpPr txBox="1"/>
              <p:nvPr/>
            </p:nvSpPr>
            <p:spPr>
              <a:xfrm>
                <a:off x="4609928" y="3234827"/>
                <a:ext cx="453683" cy="401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1D6CD0CA-3C39-5263-A121-006940E07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28" y="3234827"/>
                <a:ext cx="453683" cy="401007"/>
              </a:xfrm>
              <a:prstGeom prst="rect">
                <a:avLst/>
              </a:prstGeom>
              <a:blipFill>
                <a:blip r:embed="rId6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11C50AC0-A62D-4217-0B6A-FD662A25A984}"/>
              </a:ext>
            </a:extLst>
          </p:cNvPr>
          <p:cNvCxnSpPr>
            <a:cxnSpLocks/>
          </p:cNvCxnSpPr>
          <p:nvPr/>
        </p:nvCxnSpPr>
        <p:spPr>
          <a:xfrm flipH="1">
            <a:off x="5034116" y="2257450"/>
            <a:ext cx="78" cy="8495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D5BD30E-33EF-FFB4-6BD1-A81662215B06}"/>
              </a:ext>
            </a:extLst>
          </p:cNvPr>
          <p:cNvCxnSpPr>
            <a:cxnSpLocks/>
          </p:cNvCxnSpPr>
          <p:nvPr/>
        </p:nvCxnSpPr>
        <p:spPr>
          <a:xfrm flipH="1">
            <a:off x="5034116" y="3200778"/>
            <a:ext cx="78" cy="8495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18F606FA-8A8E-3317-2C24-8BFCB98EEE0D}"/>
                  </a:ext>
                </a:extLst>
              </p:cNvPr>
              <p:cNvSpPr txBox="1"/>
              <p:nvPr/>
            </p:nvSpPr>
            <p:spPr>
              <a:xfrm>
                <a:off x="4978639" y="2442769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18F606FA-8A8E-3317-2C24-8BFCB98EE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639" y="2442769"/>
                <a:ext cx="453683" cy="400751"/>
              </a:xfrm>
              <a:prstGeom prst="rect">
                <a:avLst/>
              </a:prstGeom>
              <a:blipFill>
                <a:blip r:embed="rId7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E250FDB-8D62-837D-7846-794E24E87522}"/>
                  </a:ext>
                </a:extLst>
              </p:cNvPr>
              <p:cNvSpPr txBox="1"/>
              <p:nvPr/>
            </p:nvSpPr>
            <p:spPr>
              <a:xfrm>
                <a:off x="4973722" y="3401417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E250FDB-8D62-837D-7846-794E24E8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722" y="3401417"/>
                <a:ext cx="453683" cy="400751"/>
              </a:xfrm>
              <a:prstGeom prst="rect">
                <a:avLst/>
              </a:prstGeom>
              <a:blipFill>
                <a:blip r:embed="rId8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1F25EBCD-7EB7-2A88-84AD-2631F64EADCE}"/>
                  </a:ext>
                </a:extLst>
              </p:cNvPr>
              <p:cNvSpPr txBox="1"/>
              <p:nvPr/>
            </p:nvSpPr>
            <p:spPr>
              <a:xfrm>
                <a:off x="5971699" y="2291032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1F25EBCD-7EB7-2A88-84AD-2631F64EA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99" y="2291032"/>
                <a:ext cx="453683" cy="400751"/>
              </a:xfrm>
              <a:prstGeom prst="rect">
                <a:avLst/>
              </a:prstGeom>
              <a:blipFill>
                <a:blip r:embed="rId9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F9E52F46-3EBC-4F77-66C1-931959FEDF80}"/>
                  </a:ext>
                </a:extLst>
              </p:cNvPr>
              <p:cNvSpPr txBox="1"/>
              <p:nvPr/>
            </p:nvSpPr>
            <p:spPr>
              <a:xfrm>
                <a:off x="5971698" y="3210247"/>
                <a:ext cx="453683" cy="401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F9E52F46-3EBC-4F77-66C1-931959FED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98" y="3210247"/>
                <a:ext cx="453683" cy="401007"/>
              </a:xfrm>
              <a:prstGeom prst="rect">
                <a:avLst/>
              </a:prstGeom>
              <a:blipFill>
                <a:blip r:embed="rId10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7AFE3D2-8A34-FC60-7F40-F77951518AC1}"/>
              </a:ext>
            </a:extLst>
          </p:cNvPr>
          <p:cNvCxnSpPr>
            <a:cxnSpLocks/>
          </p:cNvCxnSpPr>
          <p:nvPr/>
        </p:nvCxnSpPr>
        <p:spPr>
          <a:xfrm flipH="1">
            <a:off x="6395886" y="2262366"/>
            <a:ext cx="78" cy="8495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26D1A5A7-9BAF-E7ED-3A3B-F9DE0DA525A9}"/>
              </a:ext>
            </a:extLst>
          </p:cNvPr>
          <p:cNvCxnSpPr>
            <a:cxnSpLocks/>
          </p:cNvCxnSpPr>
          <p:nvPr/>
        </p:nvCxnSpPr>
        <p:spPr>
          <a:xfrm flipH="1">
            <a:off x="6395886" y="3205694"/>
            <a:ext cx="78" cy="8495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C5130511-2ECB-0BA2-0534-25CFA24C9575}"/>
                  </a:ext>
                </a:extLst>
              </p:cNvPr>
              <p:cNvSpPr txBox="1"/>
              <p:nvPr/>
            </p:nvSpPr>
            <p:spPr>
              <a:xfrm>
                <a:off x="6340409" y="2418189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C5130511-2ECB-0BA2-0534-25CFA24C9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409" y="2418189"/>
                <a:ext cx="453683" cy="400751"/>
              </a:xfrm>
              <a:prstGeom prst="rect">
                <a:avLst/>
              </a:prstGeom>
              <a:blipFill>
                <a:blip r:embed="rId11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18B826A-AC84-F800-87AB-A5A5950803CA}"/>
                  </a:ext>
                </a:extLst>
              </p:cNvPr>
              <p:cNvSpPr txBox="1"/>
              <p:nvPr/>
            </p:nvSpPr>
            <p:spPr>
              <a:xfrm>
                <a:off x="6335492" y="3376837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18B826A-AC84-F800-87AB-A5A595080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492" y="3376837"/>
                <a:ext cx="453683" cy="400751"/>
              </a:xfrm>
              <a:prstGeom prst="rect">
                <a:avLst/>
              </a:prstGeom>
              <a:blipFill>
                <a:blip r:embed="rId12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8B86C7CE-5DE7-3121-2536-E777133EA377}"/>
                  </a:ext>
                </a:extLst>
              </p:cNvPr>
              <p:cNvSpPr txBox="1"/>
              <p:nvPr/>
            </p:nvSpPr>
            <p:spPr>
              <a:xfrm>
                <a:off x="7354612" y="2736690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[3]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8B86C7CE-5DE7-3121-2536-E777133EA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612" y="2736690"/>
                <a:ext cx="453683" cy="400751"/>
              </a:xfrm>
              <a:prstGeom prst="rect">
                <a:avLst/>
              </a:prstGeom>
              <a:blipFill>
                <a:blip r:embed="rId13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B693F09F-E37F-6E20-AD44-42CF66DCE089}"/>
                  </a:ext>
                </a:extLst>
              </p:cNvPr>
              <p:cNvSpPr txBox="1"/>
              <p:nvPr/>
            </p:nvSpPr>
            <p:spPr>
              <a:xfrm>
                <a:off x="7733154" y="2863847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[3]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B693F09F-E37F-6E20-AD44-42CF66DCE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154" y="2863847"/>
                <a:ext cx="453683" cy="400751"/>
              </a:xfrm>
              <a:prstGeom prst="rect">
                <a:avLst/>
              </a:prstGeom>
              <a:blipFill>
                <a:blip r:embed="rId14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9AEB1D5-FDEB-C518-346B-849839D60E6E}"/>
              </a:ext>
            </a:extLst>
          </p:cNvPr>
          <p:cNvCxnSpPr>
            <a:cxnSpLocks/>
          </p:cNvCxnSpPr>
          <p:nvPr/>
        </p:nvCxnSpPr>
        <p:spPr>
          <a:xfrm flipH="1">
            <a:off x="7787115" y="2694707"/>
            <a:ext cx="78" cy="8495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E1A0C3CA-32F8-B814-0B85-A98279192EC0}"/>
                  </a:ext>
                </a:extLst>
              </p:cNvPr>
              <p:cNvSpPr txBox="1"/>
              <p:nvPr/>
            </p:nvSpPr>
            <p:spPr>
              <a:xfrm>
                <a:off x="4612748" y="2587973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fr-FR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E1A0C3CA-32F8-B814-0B85-A98279192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748" y="2587973"/>
                <a:ext cx="453683" cy="400751"/>
              </a:xfrm>
              <a:prstGeom prst="rect">
                <a:avLst/>
              </a:prstGeom>
              <a:blipFill>
                <a:blip r:embed="rId15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9BA97B10-9557-050B-EA5D-EC91A03DB72C}"/>
                  </a:ext>
                </a:extLst>
              </p:cNvPr>
              <p:cNvSpPr txBox="1"/>
              <p:nvPr/>
            </p:nvSpPr>
            <p:spPr>
              <a:xfrm>
                <a:off x="4616343" y="3549709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fr-FR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9BA97B10-9557-050B-EA5D-EC91A03DB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343" y="3549709"/>
                <a:ext cx="453683" cy="4007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53603BF6-EA5C-ABCD-E0E7-CFDC28C17EF3}"/>
                  </a:ext>
                </a:extLst>
              </p:cNvPr>
              <p:cNvSpPr txBox="1"/>
              <p:nvPr/>
            </p:nvSpPr>
            <p:spPr>
              <a:xfrm>
                <a:off x="5964684" y="2592888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fr-FR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53603BF6-EA5C-ABCD-E0E7-CFDC28C17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684" y="2592888"/>
                <a:ext cx="453683" cy="40075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6894DA58-8579-4731-4946-2C53E530AE13}"/>
                  </a:ext>
                </a:extLst>
              </p:cNvPr>
              <p:cNvSpPr txBox="1"/>
              <p:nvPr/>
            </p:nvSpPr>
            <p:spPr>
              <a:xfrm>
                <a:off x="5968279" y="3554624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fr-FR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6894DA58-8579-4731-4946-2C53E530A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279" y="3554624"/>
                <a:ext cx="453683" cy="400751"/>
              </a:xfrm>
              <a:prstGeom prst="rect">
                <a:avLst/>
              </a:prstGeom>
              <a:blipFill>
                <a:blip r:embed="rId18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D4D8507-D8AE-E8D6-FA0B-5FFB5D01581C}"/>
                  </a:ext>
                </a:extLst>
              </p:cNvPr>
              <p:cNvSpPr txBox="1"/>
              <p:nvPr/>
            </p:nvSpPr>
            <p:spPr>
              <a:xfrm>
                <a:off x="7367592" y="3049471"/>
                <a:ext cx="453683" cy="40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fr-FR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[3]</m:t>
                          </m:r>
                        </m:sup>
                      </m:sSubSup>
                    </m:oMath>
                  </m:oMathPara>
                </a14:m>
                <a:endParaRPr lang="fr-DZ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D4D8507-D8AE-E8D6-FA0B-5FFB5D015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92" y="3049471"/>
                <a:ext cx="453683" cy="400751"/>
              </a:xfrm>
              <a:prstGeom prst="rect">
                <a:avLst/>
              </a:prstGeom>
              <a:blipFill>
                <a:blip r:embed="rId19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BBBB9DC3-55CB-2EA1-3B0F-EBFC31E73BCD}"/>
                  </a:ext>
                </a:extLst>
              </p:cNvPr>
              <p:cNvSpPr txBox="1"/>
              <p:nvPr/>
            </p:nvSpPr>
            <p:spPr>
              <a:xfrm>
                <a:off x="5070026" y="5162820"/>
                <a:ext cx="6283774" cy="1334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fr-DZ" dirty="0"/>
                  <a:t>    =&gt;</a:t>
                </a:r>
                <a:r>
                  <a:rPr lang="en-US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fr-DZ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DZ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fr-DZ" dirty="0"/>
                  <a:t>      (simple gradient descent)</a:t>
                </a:r>
              </a:p>
              <a:p>
                <a:r>
                  <a:rPr lang="fr-DZ" dirty="0"/>
                  <a:t>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fr-DZ" dirty="0"/>
                  <a:t>  (with momentum)</a:t>
                </a:r>
              </a:p>
              <a:p>
                <a:r>
                  <a:rPr lang="fr-DZ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fr-DZ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endParaRPr lang="fr-DZ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BBBB9DC3-55CB-2EA1-3B0F-EBFC31E73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026" y="5162820"/>
                <a:ext cx="6283774" cy="1334211"/>
              </a:xfrm>
              <a:prstGeom prst="rect">
                <a:avLst/>
              </a:prstGeom>
              <a:blipFill>
                <a:blip r:embed="rId20"/>
                <a:stretch>
                  <a:fillRect t="-943" b="-3774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E8BBBE7-947C-4F3C-C1DC-6D8A5471BC1E}"/>
              </a:ext>
            </a:extLst>
          </p:cNvPr>
          <p:cNvCxnSpPr/>
          <p:nvPr/>
        </p:nvCxnSpPr>
        <p:spPr>
          <a:xfrm>
            <a:off x="4857135" y="4945626"/>
            <a:ext cx="0" cy="1775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242F82BE-87E6-6DFC-3020-C6AC86F91B88}"/>
              </a:ext>
            </a:extLst>
          </p:cNvPr>
          <p:cNvSpPr txBox="1"/>
          <p:nvPr/>
        </p:nvSpPr>
        <p:spPr>
          <a:xfrm rot="1896274">
            <a:off x="8636450" y="1607756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dirty="0" err="1">
                <a:solidFill>
                  <a:srgbClr val="FF0000"/>
                </a:solidFill>
                <a:latin typeface="Andale Mono" panose="020B0509000000000004" pitchFamily="49" charset="0"/>
              </a:rPr>
              <a:t>t</a:t>
            </a:r>
            <a:r>
              <a:rPr lang="fr-DZ" dirty="0">
                <a:solidFill>
                  <a:srgbClr val="FF0000"/>
                </a:solidFill>
                <a:latin typeface="Andale Mono" panose="020B0509000000000004" pitchFamily="49" charset="0"/>
              </a:rPr>
              <a:t>f.nn.batch-normalization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9B346E15-45CE-131D-ACD6-B31B8EA40D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871665">
            <a:off x="10426989" y="915047"/>
            <a:ext cx="926811" cy="78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7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31" grpId="0"/>
      <p:bldP spid="32" grpId="0"/>
      <p:bldP spid="33" grpId="0"/>
      <p:bldP spid="34" grpId="0"/>
      <p:bldP spid="35" grpId="0"/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D72B-B5ED-B543-10C4-E617DB15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082144-7487-5B5C-3E25-2D6C7A62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Batch normalization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6FC186-E771-05AE-A33A-AA84E86D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30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F3CF9F74-092C-3311-DB32-A4160D2C2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In general, it is applied with mini-batch learning:</a:t>
                </a:r>
              </a:p>
              <a:p>
                <a:pPr marL="274637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b="0" dirty="0">
                    <a:ea typeface="Cambria Math" panose="02040503050406030204" pitchFamily="18" charset="0"/>
                  </a:rPr>
                  <a:t>Mini-batch #1: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{1}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274637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Mini-batch #2: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{2}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2000" dirty="0"/>
              </a:p>
              <a:p>
                <a:pPr marL="274637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Mini-batch #3: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{3}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lang="fr-FR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2000" dirty="0"/>
              </a:p>
              <a:p>
                <a:pPr marL="274637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/>
                  <a:t>…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en-US" sz="2400" b="1" dirty="0"/>
                  <a:t>Trainable parameters in layer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b="1" dirty="0"/>
                  <a:t>: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m:rPr>
                        <m:brk m:alnAt="2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m:rPr>
                        <m:brk m:alnAt="2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sSup>
                      <m:sSupPr>
                        <m:ctrl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−1]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400" dirty="0"/>
                  <a:t>    </a:t>
                </a:r>
                <a:r>
                  <a:rPr lang="en-US" sz="2400" b="1" dirty="0"/>
                  <a:t>then 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400" dirty="0"/>
                  <a:t> is normalized (the mean -&gt; 0)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  <m:sSup>
                      <m:sSupPr>
                        <m:ctrl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−1]</m:t>
                        </m:r>
                      </m:sup>
                    </m:sSup>
                  </m:oMath>
                </a14:m>
                <a:r>
                  <a:rPr lang="en-US" sz="2400" dirty="0"/>
                  <a:t>    =&gt;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𝑛𝑜𝑟𝑚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sz="2400" dirty="0"/>
                  <a:t>     =&gt;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 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𝑛𝑜𝑟𝑚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F3CF9F74-092C-3311-DB32-A4160D2C2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79192FD-4070-0216-6368-9FFF01DFEC3A}"/>
              </a:ext>
            </a:extLst>
          </p:cNvPr>
          <p:cNvCxnSpPr/>
          <p:nvPr/>
        </p:nvCxnSpPr>
        <p:spPr>
          <a:xfrm flipV="1">
            <a:off x="3171466" y="5451676"/>
            <a:ext cx="648183" cy="47641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40D9D41-B036-FC71-2E63-9493DBDC66C7}"/>
              </a:ext>
            </a:extLst>
          </p:cNvPr>
          <p:cNvCxnSpPr/>
          <p:nvPr/>
        </p:nvCxnSpPr>
        <p:spPr>
          <a:xfrm flipV="1">
            <a:off x="2037144" y="4884646"/>
            <a:ext cx="648183" cy="47641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3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87C8-FBC3-C91A-958C-422FB54A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907D55-F2C5-5CE9-5C5A-02D0962C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Deep Neural Network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Batch normalization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211A21-567C-BF35-B163-DAD0FA50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2913D-96FF-F743-AD47-C343CD11A9A1}" type="slidenum">
              <a:rPr lang="en-US" noProof="0" smtClean="0"/>
              <a:t>31</a:t>
            </a:fld>
            <a:endParaRPr lang="en-US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ECE5589-61C2-835A-F8E7-C88C0AA07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20755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2000" b="1" i="1" dirty="0"/>
              <a:t>What about the test time?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2000" dirty="0"/>
              <a:t>	During training, inputs are processed by batch or mini-batches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2000" dirty="0"/>
              <a:t>	During test time, input are processed one by one.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contenu 5">
                <a:extLst>
                  <a:ext uri="{FF2B5EF4-FFF2-40B4-BE49-F238E27FC236}">
                    <a16:creationId xmlns:a16="http://schemas.microsoft.com/office/drawing/2014/main" id="{47514C93-8A9D-D77A-9506-BB39A8BA95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95554" y="3336101"/>
                <a:ext cx="8333773" cy="32859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11163" indent="-411163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 dirty="0"/>
                  <a:t>The parameters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 are computed for each layer, for each mini-batch and at each iteration.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 dirty="0"/>
                  <a:t>The parameters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 used at test time for layer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are computed as exponentially weighted average over all mini-batches: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{1} 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{2} 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{3} 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/>
                  <a:t>…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Espace réservé du contenu 5">
                <a:extLst>
                  <a:ext uri="{FF2B5EF4-FFF2-40B4-BE49-F238E27FC236}">
                    <a16:creationId xmlns:a16="http://schemas.microsoft.com/office/drawing/2014/main" id="{47514C93-8A9D-D77A-9506-BB39A8BA9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54" y="3336101"/>
                <a:ext cx="8333773" cy="3285913"/>
              </a:xfrm>
              <a:prstGeom prst="rect">
                <a:avLst/>
              </a:prstGeom>
              <a:blipFill>
                <a:blip r:embed="rId3"/>
                <a:stretch>
                  <a:fillRect l="-761" t="-769" r="-913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space réservé du contenu 5">
                <a:extLst>
                  <a:ext uri="{FF2B5EF4-FFF2-40B4-BE49-F238E27FC236}">
                    <a16:creationId xmlns:a16="http://schemas.microsoft.com/office/drawing/2014/main" id="{D94835F2-DB0D-F198-0DE9-70E57385FA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9775" y="3346380"/>
                <a:ext cx="2731625" cy="32859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411163" indent="-411163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fr-F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fr-FR" sz="1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18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1800" b="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800" b="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800" b="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18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𝑛𝑜𝑟𝑚</m:t>
                          </m:r>
                        </m:sub>
                        <m:sup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fr-FR" sz="18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fr-FR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8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accent1"/>
                  </a:solidFill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1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US" sz="1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𝑛𝑜𝑟𝑚</m:t>
                        </m:r>
                      </m:sub>
                      <m:sup>
                        <m:r>
                          <a:rPr lang="en-US" sz="1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solidFill>
                      <a:schemeClr val="accent1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0" name="Espace réservé du contenu 5">
                <a:extLst>
                  <a:ext uri="{FF2B5EF4-FFF2-40B4-BE49-F238E27FC236}">
                    <a16:creationId xmlns:a16="http://schemas.microsoft.com/office/drawing/2014/main" id="{D94835F2-DB0D-F198-0DE9-70E57385F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75" y="3346380"/>
                <a:ext cx="2731625" cy="3285914"/>
              </a:xfrm>
              <a:prstGeom prst="rect">
                <a:avLst/>
              </a:prstGeom>
              <a:blipFill>
                <a:blip r:embed="rId4"/>
                <a:stretch>
                  <a:fillRect l="-3687" t="-27692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D7DAE7AD-3A29-603C-D300-28E8A3B82242}"/>
                  </a:ext>
                </a:extLst>
              </p:cNvPr>
              <p:cNvSpPr txBox="1"/>
              <p:nvPr/>
            </p:nvSpPr>
            <p:spPr>
              <a:xfrm>
                <a:off x="7274690" y="4951177"/>
                <a:ext cx="4554637" cy="1066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e>
                        <m:sup>
                          <m: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𝐸𝑊𝐴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fr-DZ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2[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e>
                        <m:sup>
                          <m: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𝐸𝑊𝐴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DZ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D7DAE7AD-3A29-603C-D300-28E8A3B82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690" y="4951177"/>
                <a:ext cx="4554637" cy="1066189"/>
              </a:xfrm>
              <a:prstGeom prst="rect">
                <a:avLst/>
              </a:prstGeom>
              <a:blipFill>
                <a:blip r:embed="rId5"/>
                <a:stretch>
                  <a:fillRect t="-3529" b="-3529"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7502E66-536F-ECD2-698A-F8142D2510A7}"/>
                  </a:ext>
                </a:extLst>
              </p:cNvPr>
              <p:cNvSpPr txBox="1"/>
              <p:nvPr/>
            </p:nvSpPr>
            <p:spPr>
              <a:xfrm>
                <a:off x="7766613" y="6068205"/>
                <a:ext cx="2459620" cy="776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𝑛𝑜𝑟𝑚</m:t>
                          </m:r>
                        </m:sub>
                        <m:sup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fr-FR" sz="18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fr-F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𝑡𝑒𝑠𝑡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DZ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7502E66-536F-ECD2-698A-F8142D251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613" y="6068205"/>
                <a:ext cx="2459620" cy="776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D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39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54468</TotalTime>
  <Words>3653</Words>
  <Application>Microsoft Macintosh PowerPoint</Application>
  <PresentationFormat>Grand écran</PresentationFormat>
  <Paragraphs>423</Paragraphs>
  <Slides>31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9" baseType="lpstr">
      <vt:lpstr>Andale Mono</vt:lpstr>
      <vt:lpstr>Arial</vt:lpstr>
      <vt:lpstr>Calibri</vt:lpstr>
      <vt:lpstr>Calibri Light</vt:lpstr>
      <vt:lpstr>Cambria Math</vt:lpstr>
      <vt:lpstr>Roboto</vt:lpstr>
      <vt:lpstr>Symbol</vt:lpstr>
      <vt:lpstr>Thème Office</vt:lpstr>
      <vt:lpstr>Course «  Deep Learning » </vt:lpstr>
      <vt:lpstr>3. Deep Neural Network Optimization</vt:lpstr>
      <vt:lpstr>3. Deep Neural Network Optimization: Mini-batch gradient descent</vt:lpstr>
      <vt:lpstr>3. Deep Neural Network Optimization: Mini-batch Gradient Descent</vt:lpstr>
      <vt:lpstr>3. Deep Neural Network Optimization: Mini-batch Gradient Descent</vt:lpstr>
      <vt:lpstr>Deep Neural Network Optimization: Mini-batch Gradient Descent</vt:lpstr>
      <vt:lpstr>3. Deep Neural Network Optimization: Mini-batch Gradient Descent</vt:lpstr>
      <vt:lpstr>3. Deep Neural Network Optimization: Grad. Descent Analysis</vt:lpstr>
      <vt:lpstr>3. Deep Neural Network Optimization: Grad. Descent Analysis</vt:lpstr>
      <vt:lpstr>3. Deep Neural Network Optimization: EWA</vt:lpstr>
      <vt:lpstr>3. Deep Neural Network Optimization: EWA</vt:lpstr>
      <vt:lpstr>3. Deep Neural Network Optimization: Grad. Descent with Momentum</vt:lpstr>
      <vt:lpstr>3. Deep Neural Network Optimization: Grad. Descent with Momentum</vt:lpstr>
      <vt:lpstr>3. Deep Neural Network Optimization: RMSProp</vt:lpstr>
      <vt:lpstr>3. Deep Neural Network Optimization: RMSProp</vt:lpstr>
      <vt:lpstr>3. Deep Neural Network Optimization: Adam</vt:lpstr>
      <vt:lpstr>3. Deep Neural Network Optimization: Adam</vt:lpstr>
      <vt:lpstr>3. Deep Neural Network Optimization: Momentum, RMSProp, Adam</vt:lpstr>
      <vt:lpstr>3. Deep Neural Network Optimization: Momentum, RMSProp, Adam</vt:lpstr>
      <vt:lpstr>3. Deep Neural Network Optimization: Learning Rate Decay</vt:lpstr>
      <vt:lpstr>3. Deep Neural Network Optimization: Learning Rate Decay</vt:lpstr>
      <vt:lpstr>3. Deep Neural Network Optimization: Learning Rate Decay</vt:lpstr>
      <vt:lpstr>3. Deep Neural Network Multi-class problem</vt:lpstr>
      <vt:lpstr>3. Deep Neural Network Multi-class problem – Sofmax </vt:lpstr>
      <vt:lpstr>3. Deep Neural Network Multi-class problem – Sofmax </vt:lpstr>
      <vt:lpstr>3. Deep Neural Network Hyper-parameters</vt:lpstr>
      <vt:lpstr>3. Deep Neural Network Batch normalization</vt:lpstr>
      <vt:lpstr>3. Deep Neural Network Batch normalization</vt:lpstr>
      <vt:lpstr>3. Deep Neural Network Batch normalization</vt:lpstr>
      <vt:lpstr>3. Deep Neural Network Batch normalization</vt:lpstr>
      <vt:lpstr>3. Deep Neural Network Batch normalization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descriptive des données</dc:title>
  <dc:creator>Microsoft Office User</dc:creator>
  <cp:lastModifiedBy>Y. Berrani</cp:lastModifiedBy>
  <cp:revision>548</cp:revision>
  <dcterms:created xsi:type="dcterms:W3CDTF">2020-11-04T09:07:02Z</dcterms:created>
  <dcterms:modified xsi:type="dcterms:W3CDTF">2024-12-01T13:50:55Z</dcterms:modified>
</cp:coreProperties>
</file>